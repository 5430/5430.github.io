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2" r:id="rId6"/>
    <p:sldId id="273" r:id="rId7"/>
    <p:sldId id="257" r:id="rId8"/>
    <p:sldId id="258" r:id="rId9"/>
    <p:sldId id="259" r:id="rId10"/>
    <p:sldId id="260" r:id="rId11"/>
    <p:sldId id="271" r:id="rId12"/>
    <p:sldId id="261" r:id="rId13"/>
    <p:sldId id="262" r:id="rId14"/>
    <p:sldId id="263" r:id="rId15"/>
    <p:sldId id="265" r:id="rId16"/>
    <p:sldId id="267" r:id="rId17"/>
    <p:sldId id="266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8900" autoAdjust="0"/>
  </p:normalViewPr>
  <p:slideViewPr>
    <p:cSldViewPr snapToGrid="0">
      <p:cViewPr varScale="1">
        <p:scale>
          <a:sx n="66" d="100"/>
          <a:sy n="66" d="100"/>
        </p:scale>
        <p:origin x="-668" y="-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EAF0920-3D24-7979-4CC1-165F966B6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9D837C9B-995C-431E-9A95-0AA25D946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B821926-BF9A-3BA3-F9CC-CC2462A4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F2B5E5B-BF09-9B3A-DCF8-7D7656F3D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D8F3153-8713-F75E-E2DE-603BA0E68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76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65C4A2E-14C7-8421-2AEE-0099DB93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4DE2470-4CD8-9870-BC27-5CBF3DC0D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FF9BAC1F-D614-F340-5CEC-084FC4885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E5346D87-7797-6FBC-72AE-2C1C8BBD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6D9AC99-77A6-B14D-6E3C-917C5881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6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CF7AECA-8A69-125F-1E70-A0434F97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0D8D973-B5E0-0075-0A01-62DFE798A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982ACDA-A21E-29D1-D6E7-684EFDF29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85DBD29F-2D85-9BC2-3903-9F97C159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677FC53-18D1-18F7-203D-68FD20FA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886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5B02DAD-A575-F6FD-F77D-30D0EBEC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2723711-6F47-5218-3CEE-6140CEA7D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9166DF2D-9C16-27BB-E7EA-7FA16A206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350A59E-60C7-9627-2252-65732CED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165B052B-47B0-D8FF-A537-2564659D2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632A20A5-815A-3DB0-5F42-2894FFE34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01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DAAED0A0-B101-5D41-9947-5B367B8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3BB0E216-EE42-B46C-3CBB-F965661B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B7DB56-8B34-6C48-E837-E4F9AAF29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4B276EF4-4FDD-03FD-77CB-3DB347BED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9AC8C741-116B-E3C5-B7AD-AF9315A4C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AF75E92A-DC52-53A3-F98F-BF4E9407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19AAD2A2-B207-E9FF-4519-DC4516BB6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1CCFD52E-FB4F-DA6C-0696-F70A27FA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55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1995C9F-8056-07FA-8490-5CB71DD2F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10AA6082-0D86-7F2D-7DA3-E51F9FFD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FFC2398A-6355-8B15-E4DF-03EDC45E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EEABFA51-07A4-A304-9F63-4A2F1650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66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43036215-1B5D-2F18-BCE9-6BC8C05D1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E62D4F03-5D6B-924F-B783-9F5C360FF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C584574-40F4-4496-6F66-D3FE76A54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80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A1E9701C-6440-E974-6C4B-93B62249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12C518F-F909-634F-5C4E-5B5E8E4AA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CE2C4413-4D9E-53A5-E163-B5F9D59E0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864C6DC-2D67-208B-D780-CB6C9B277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DFAFE80-80FC-2CED-8475-7FF0AFE1A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23ABCD30-4269-A916-C261-9B766655B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57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7588612-CDE5-8394-A865-0BC8578B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93EC9FA4-88CA-B9A2-9D6E-DEEDB52AC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70DDB6D-FCE2-5F54-BF89-AD5B0E4C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7638F2B-3B75-A54B-622A-2EF984CE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2671E422-9ED9-CEB2-9FD2-A2E69D6DF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56560DA-B37C-084B-26F3-CCBDDC0ED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4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5DDA250-2CEB-ED7E-EA02-6194065C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42A2A3F2-6695-F0BA-B997-A68DE302F6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6AD5C6A-F3AC-F38C-3CE9-E141E4C1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E34349E-3D16-7EF0-C003-0F1FED36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F721091-C70C-1C63-7167-817F4E7C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066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DBA517B3-1110-114E-CA0A-EE48D79DC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CDA0A62D-EA1F-1799-630F-AABC4FAAE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3A8B7F5-D12F-FB60-878F-522746DE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23156A4-A261-2545-581E-0EF713A9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BD094EB-A3DD-672B-07C5-A64402BC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720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FBA62F85-728A-420F-2E54-7CCF00548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DF60BA32-D431-A013-96F0-B143E647A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D32453A4-D4C8-6214-D0A5-DD9A4393B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A9F4B-82B3-4CE3-B2D7-67A6C6D08C35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809275-8964-28F2-6A39-55AB01225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4C7EA8D3-C6E9-67CC-407E-EB72CB674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7A87F-BB0F-4FB2-B997-5C0632B9E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42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-static.rbr-global.com/pyrsktools/index.html" TargetMode="External"/><Relationship Id="rId2" Type="http://schemas.openxmlformats.org/officeDocument/2006/relationships/hyperlink" Target="https://rbr-global.com/support/matlab-too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OX5X1G1qWzU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3D17206-1183-2EB6-EA56-16B431D763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RBR CTD </a:t>
            </a:r>
            <a:r>
              <a:rPr lang="ko-KR" altLang="en-US" dirty="0" smtClean="0"/>
              <a:t>자료처리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프로그램 사용법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723422D1-7A8E-68D6-0A1B-F9EE88F005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921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배경 및 필요성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653346" cy="4351338"/>
          </a:xfrm>
        </p:spPr>
        <p:txBody>
          <a:bodyPr/>
          <a:lstStyle/>
          <a:p>
            <a:r>
              <a:rPr lang="ko-KR" altLang="en-US" dirty="0" smtClean="0"/>
              <a:t>금년 </a:t>
            </a:r>
            <a:r>
              <a:rPr lang="en-US" altLang="ko-KR" dirty="0" smtClean="0"/>
              <a:t>SBE CTD </a:t>
            </a:r>
            <a:r>
              <a:rPr lang="ko-KR" altLang="en-US" dirty="0" smtClean="0"/>
              <a:t>수요 급증 및 보유량 부족으로 한국연안 해류조사 시 </a:t>
            </a:r>
            <a:r>
              <a:rPr lang="en-US" altLang="ko-KR" dirty="0" smtClean="0"/>
              <a:t>RBR CTD </a:t>
            </a:r>
            <a:r>
              <a:rPr lang="ko-KR" altLang="en-US" dirty="0" smtClean="0"/>
              <a:t>사용 빈도 증가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SBE CTD</a:t>
            </a:r>
            <a:r>
              <a:rPr lang="ko-KR" altLang="en-US" dirty="0" smtClean="0"/>
              <a:t>와 달리 </a:t>
            </a:r>
            <a:r>
              <a:rPr lang="en-US" altLang="ko-KR" dirty="0" smtClean="0"/>
              <a:t>RBR CTD</a:t>
            </a:r>
            <a:r>
              <a:rPr lang="ko-KR" altLang="en-US" dirty="0" smtClean="0"/>
              <a:t>에 대한 자료처리 방법 및 도구가 없어 발생하는 문제점 개선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848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743" y="1545611"/>
            <a:ext cx="3347304" cy="1004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01538">
            <a:off x="2167634" y="140673"/>
            <a:ext cx="1526638" cy="3749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각각의 특징 비교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405" y="1448899"/>
            <a:ext cx="251460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13967"/>
              </p:ext>
            </p:extLst>
          </p:nvPr>
        </p:nvGraphicFramePr>
        <p:xfrm>
          <a:off x="1033219" y="2534016"/>
          <a:ext cx="10111154" cy="3668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3789484"/>
                <a:gridCol w="3807070"/>
              </a:tblGrid>
              <a:tr h="40763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SBE 911+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RBR</a:t>
                      </a:r>
                      <a:r>
                        <a:rPr lang="en-US" altLang="ko-KR" baseline="0" dirty="0" smtClean="0"/>
                        <a:t> Concerto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/>
                        <a:t>Sampling</a:t>
                      </a:r>
                      <a:r>
                        <a:rPr lang="en-US" altLang="ko-KR" baseline="0" dirty="0" smtClean="0"/>
                        <a:t> Rate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24Hz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2~32Hz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메모리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O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실시간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X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크기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대형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소형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편의성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복잡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간단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 smtClean="0"/>
                        <a:t>확장성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높음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낮음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정확도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±0.0003 S/m, ±0.001 °C, ±0.015%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±0.003mS/cm, ±0.002°C, ±0.05%</a:t>
                      </a:r>
                      <a:endParaRPr lang="ko-KR" altLang="en-US" dirty="0"/>
                    </a:p>
                  </a:txBody>
                  <a:tcPr/>
                </a:tc>
              </a:tr>
              <a:tr h="40763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/>
                        <a:t>가격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고가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저렴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364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(</a:t>
            </a:r>
            <a:r>
              <a:rPr lang="en-US" altLang="ko-KR" dirty="0" err="1" smtClean="0"/>
              <a:t>py</a:t>
            </a:r>
            <a:r>
              <a:rPr lang="en-US" altLang="ko-KR" dirty="0" smtClean="0"/>
              <a:t>)</a:t>
            </a:r>
            <a:r>
              <a:rPr lang="en-US" altLang="ko-KR" dirty="0" err="1" smtClean="0"/>
              <a:t>RSKtools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RBR</a:t>
            </a:r>
            <a:r>
              <a:rPr lang="ko-KR" altLang="en-US" dirty="0" smtClean="0"/>
              <a:t>에서 제공하는 </a:t>
            </a:r>
            <a:r>
              <a:rPr lang="en-US" altLang="ko-KR" dirty="0" smtClean="0"/>
              <a:t>CTD </a:t>
            </a:r>
            <a:r>
              <a:rPr lang="ko-KR" altLang="en-US" dirty="0" smtClean="0"/>
              <a:t>자료처리 도구</a:t>
            </a:r>
            <a:r>
              <a:rPr lang="en-US" altLang="ko-KR" dirty="0" smtClean="0"/>
              <a:t>, MATLAB, </a:t>
            </a:r>
            <a:r>
              <a:rPr lang="en-US" altLang="ko-KR" dirty="0" smtClean="0"/>
              <a:t>python </a:t>
            </a:r>
            <a:r>
              <a:rPr lang="ko-KR" altLang="en-US" dirty="0" smtClean="0"/>
              <a:t>버전 제공</a:t>
            </a:r>
            <a:r>
              <a:rPr lang="en-US" altLang="ko-KR" dirty="0"/>
              <a:t>(</a:t>
            </a:r>
            <a:r>
              <a:rPr lang="en-US" altLang="ko-KR" dirty="0" smtClean="0">
                <a:hlinkClick r:id="rId2"/>
              </a:rPr>
              <a:t>https</a:t>
            </a:r>
            <a:r>
              <a:rPr lang="en-US" altLang="ko-KR" dirty="0">
                <a:hlinkClick r:id="rId2"/>
              </a:rPr>
              <a:t>://rbr-global.com/support/matlab-tools</a:t>
            </a:r>
            <a:r>
              <a:rPr lang="en-US" altLang="ko-KR" dirty="0" smtClean="0">
                <a:hlinkClick r:id="rId2"/>
              </a:rPr>
              <a:t>/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docs-static.rbr-global.com/pyrsktools/index.html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>
                <a:hlinkClick r:id="rId4"/>
              </a:rPr>
              <a:t>https://</a:t>
            </a:r>
            <a:r>
              <a:rPr lang="en-US" altLang="ko-KR" dirty="0" smtClean="0">
                <a:hlinkClick r:id="rId4"/>
              </a:rPr>
              <a:t>www.youtube.com/watch?v=OX5X1G1qWzU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233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en-US" altLang="ko-KR" dirty="0" err="1"/>
              <a:t>py</a:t>
            </a:r>
            <a:r>
              <a:rPr lang="en-US" altLang="ko-KR" dirty="0"/>
              <a:t>)</a:t>
            </a:r>
            <a:r>
              <a:rPr lang="en-US" altLang="ko-KR" dirty="0" err="1" smtClean="0"/>
              <a:t>RSKtools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6" name="Picture 2" descr="D:\참고\mpv-shot00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88" y="1851773"/>
            <a:ext cx="8999955" cy="500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89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en-US" altLang="ko-KR" dirty="0" err="1"/>
              <a:t>py</a:t>
            </a:r>
            <a:r>
              <a:rPr lang="en-US" altLang="ko-KR" dirty="0"/>
              <a:t>)</a:t>
            </a:r>
            <a:r>
              <a:rPr lang="en-US" altLang="ko-KR" dirty="0" err="1" smtClean="0"/>
              <a:t>RSKtools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2050" name="Picture 2" descr="D:\참고\mpv-shot00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860" y="1822917"/>
            <a:ext cx="9051835" cy="503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99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5EB3836-619F-1474-7583-EC428971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9C1FD9C-EFE1-7FF4-52B3-B80737E79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F26A152-ACAE-2762-477F-C248893F6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2F4DE6D3-411C-86AE-29A6-0F39CAD46B23}"/>
              </a:ext>
            </a:extLst>
          </p:cNvPr>
          <p:cNvSpPr/>
          <p:nvPr/>
        </p:nvSpPr>
        <p:spPr>
          <a:xfrm>
            <a:off x="323274" y="628795"/>
            <a:ext cx="1487054" cy="125542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429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2F073C0-9655-35C3-2CA0-483EC89A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9A2132A-9742-0E1F-FB95-4EB198E9A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9E6DAD6-5ACA-4B0A-1FA7-D13B0BDB3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280D2508-E8EA-C6E7-B3EF-E1B11BCC8158}"/>
              </a:ext>
            </a:extLst>
          </p:cNvPr>
          <p:cNvSpPr/>
          <p:nvPr/>
        </p:nvSpPr>
        <p:spPr>
          <a:xfrm>
            <a:off x="3422469" y="1825625"/>
            <a:ext cx="8316685" cy="478418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51FE36E-8291-1C85-5BB4-9ACEA2931162}"/>
              </a:ext>
            </a:extLst>
          </p:cNvPr>
          <p:cNvSpPr txBox="1"/>
          <p:nvPr/>
        </p:nvSpPr>
        <p:spPr>
          <a:xfrm>
            <a:off x="7257645" y="400129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AF5D9583-D7D8-0AD1-E871-079D1553F3F4}"/>
              </a:ext>
            </a:extLst>
          </p:cNvPr>
          <p:cNvSpPr/>
          <p:nvPr/>
        </p:nvSpPr>
        <p:spPr>
          <a:xfrm>
            <a:off x="3220199" y="653329"/>
            <a:ext cx="8676237" cy="23336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A39624CB-B04C-ED6C-A24C-ED4EE8224F20}"/>
              </a:ext>
            </a:extLst>
          </p:cNvPr>
          <p:cNvSpPr txBox="1"/>
          <p:nvPr/>
        </p:nvSpPr>
        <p:spPr>
          <a:xfrm>
            <a:off x="5657418" y="5853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메시지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8183CC1E-C25D-4FC8-4A7B-F126432D2FA5}"/>
              </a:ext>
            </a:extLst>
          </p:cNvPr>
          <p:cNvSpPr/>
          <p:nvPr/>
        </p:nvSpPr>
        <p:spPr>
          <a:xfrm>
            <a:off x="4304145" y="1174895"/>
            <a:ext cx="6322027" cy="51579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9FCDA067-AEDD-F24F-A90F-C62AA90A71E6}"/>
              </a:ext>
            </a:extLst>
          </p:cNvPr>
          <p:cNvSpPr txBox="1"/>
          <p:nvPr/>
        </p:nvSpPr>
        <p:spPr>
          <a:xfrm>
            <a:off x="5657418" y="12468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그림 항목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82C7822-F8D0-C581-A3BA-DC37FD7F095B}"/>
              </a:ext>
            </a:extLst>
          </p:cNvPr>
          <p:cNvSpPr/>
          <p:nvPr/>
        </p:nvSpPr>
        <p:spPr>
          <a:xfrm>
            <a:off x="932873" y="628796"/>
            <a:ext cx="1708727" cy="45186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515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21BFBD0-0C1F-3734-FC71-528B38F9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xmlns="" id="{CA00031C-DE58-CC96-A505-53048379E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906252F9-4F63-8E43-AE33-23A6CBB69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xmlns="" id="{6DEB954C-512C-CD1B-4135-E48623584D98}"/>
              </a:ext>
            </a:extLst>
          </p:cNvPr>
          <p:cNvSpPr/>
          <p:nvPr/>
        </p:nvSpPr>
        <p:spPr>
          <a:xfrm>
            <a:off x="1016001" y="1027907"/>
            <a:ext cx="1745671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735D208-B837-ADE2-04BE-BD336D1FF6F8}"/>
              </a:ext>
            </a:extLst>
          </p:cNvPr>
          <p:cNvSpPr txBox="1"/>
          <p:nvPr/>
        </p:nvSpPr>
        <p:spPr>
          <a:xfrm>
            <a:off x="1334838" y="98841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자료항목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xmlns="" id="{518390DC-2F02-3FC3-8964-55F1361E7E4D}"/>
              </a:ext>
            </a:extLst>
          </p:cNvPr>
          <p:cNvSpPr/>
          <p:nvPr/>
        </p:nvSpPr>
        <p:spPr>
          <a:xfrm>
            <a:off x="1016000" y="1368425"/>
            <a:ext cx="1745671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6D4A71DF-531C-61BF-50FA-63E29CE5E7AD}"/>
              </a:ext>
            </a:extLst>
          </p:cNvPr>
          <p:cNvSpPr txBox="1"/>
          <p:nvPr/>
        </p:nvSpPr>
        <p:spPr>
          <a:xfrm>
            <a:off x="1413349" y="132102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필터링방법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xmlns="" id="{9E604D3C-BD73-B356-B152-B6EA7DA512FC}"/>
              </a:ext>
            </a:extLst>
          </p:cNvPr>
          <p:cNvSpPr/>
          <p:nvPr/>
        </p:nvSpPr>
        <p:spPr>
          <a:xfrm>
            <a:off x="1505528" y="1705550"/>
            <a:ext cx="1496290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5B6D12FC-6930-2FF8-3482-74A86B06AED0}"/>
              </a:ext>
            </a:extLst>
          </p:cNvPr>
          <p:cNvSpPr txBox="1"/>
          <p:nvPr/>
        </p:nvSpPr>
        <p:spPr>
          <a:xfrm>
            <a:off x="1482623" y="1667382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Window </a:t>
            </a:r>
            <a:r>
              <a:rPr lang="ko-KR" altLang="en-US" dirty="0"/>
              <a:t>개수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6711" y="294970"/>
            <a:ext cx="9191491" cy="6474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smtClean="0"/>
              <a:t>smooth(self: RSK, channels</a:t>
            </a:r>
            <a:r>
              <a:rPr lang="en-US" altLang="ko-KR" dirty="0"/>
              <a:t>: Union[</a:t>
            </a:r>
            <a:r>
              <a:rPr lang="en-US" altLang="ko-KR" dirty="0" err="1"/>
              <a:t>str</a:t>
            </a:r>
            <a:r>
              <a:rPr lang="en-US" altLang="ko-KR" dirty="0"/>
              <a:t>, Collection[</a:t>
            </a:r>
            <a:r>
              <a:rPr lang="en-US" altLang="ko-KR" dirty="0" err="1"/>
              <a:t>str</a:t>
            </a:r>
            <a:r>
              <a:rPr lang="en-US" altLang="ko-KR" dirty="0" smtClean="0"/>
              <a:t>]], filter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"boxcar",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</a:t>
            </a:r>
            <a:r>
              <a:rPr lang="en-US" altLang="ko-KR" dirty="0" smtClean="0"/>
              <a:t>[],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"both",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</a:t>
            </a:r>
            <a:r>
              <a:rPr lang="en-US" altLang="ko-KR" dirty="0" err="1" smtClean="0"/>
              <a:t>windowLength</a:t>
            </a:r>
            <a:r>
              <a:rPr lang="en-US" altLang="ko-KR" dirty="0"/>
              <a:t>: </a:t>
            </a:r>
            <a:r>
              <a:rPr lang="en-US" altLang="ko-KR" dirty="0" err="1"/>
              <a:t>int</a:t>
            </a:r>
            <a:r>
              <a:rPr lang="en-US" altLang="ko-KR" dirty="0"/>
              <a:t> = 3,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) -&gt; </a:t>
            </a:r>
            <a:r>
              <a:rPr lang="en-US" altLang="ko-KR" dirty="0" err="1"/>
              <a:t>None</a:t>
            </a:r>
            <a:r>
              <a:rPr lang="en-US" altLang="ko-KR" dirty="0" err="1" smtClean="0"/>
              <a:t>:"""Apply</a:t>
            </a:r>
            <a:r>
              <a:rPr lang="en-US" altLang="ko-KR" dirty="0" smtClean="0"/>
              <a:t> a low pass filter on the specified channel(s).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 smtClean="0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channels</a:t>
            </a:r>
            <a:r>
              <a:rPr lang="en-US" altLang="ko-KR" dirty="0"/>
              <a:t> (Union[</a:t>
            </a:r>
            <a:r>
              <a:rPr lang="en-US" altLang="ko-KR" dirty="0" err="1"/>
              <a:t>str</a:t>
            </a:r>
            <a:r>
              <a:rPr lang="en-US" altLang="ko-KR" dirty="0"/>
              <a:t>, Collection[</a:t>
            </a:r>
            <a:r>
              <a:rPr lang="en-US" altLang="ko-KR" dirty="0" err="1"/>
              <a:t>str</a:t>
            </a:r>
            <a:r>
              <a:rPr lang="en-US" altLang="ko-KR" dirty="0"/>
              <a:t>]]): </a:t>
            </a:r>
            <a:r>
              <a:rPr lang="en-US" altLang="ko-KR" dirty="0" err="1"/>
              <a:t>longname</a:t>
            </a:r>
            <a:r>
              <a:rPr lang="en-US" altLang="ko-KR" dirty="0"/>
              <a:t> of channel to filter. Can be a single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channel, or </a:t>
            </a:r>
            <a:r>
              <a:rPr lang="en-US" altLang="ko-KR" dirty="0"/>
              <a:t>a list of multiple channels.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, optional): the weighting function, "boxcar", "triangle", or "median".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profiles </a:t>
            </a:r>
            <a:r>
              <a:rPr lang="en-US" altLang="ko-KR" dirty="0"/>
              <a:t>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direction </a:t>
            </a:r>
            <a:r>
              <a:rPr lang="en-US" altLang="ko-KR" dirty="0"/>
              <a:t>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windowLength</a:t>
            </a:r>
            <a:r>
              <a:rPr lang="en-US" altLang="ko-KR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, optional): the total size of the filter window. Must be </a:t>
            </a:r>
            <a:r>
              <a:rPr lang="en-US" altLang="ko-KR" dirty="0" smtClean="0"/>
              <a:t>odd.</a:t>
            </a:r>
            <a:endParaRPr lang="en-US" altLang="ko-KR" dirty="0"/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Edge effects are handled by mirroring the original time series.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The ``</a:t>
            </a:r>
            <a:r>
              <a:rPr lang="en-US" altLang="ko-KR" dirty="0" err="1" smtClean="0"/>
              <a:t>windowLength</a:t>
            </a:r>
            <a:r>
              <a:rPr lang="en-US" altLang="ko-KR" dirty="0" smtClean="0"/>
              <a:t>`` argument determines the degree of smoothing.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If ``</a:t>
            </a:r>
            <a:r>
              <a:rPr lang="en-US" altLang="ko-KR" dirty="0" err="1" smtClean="0"/>
              <a:t>windowLength</a:t>
            </a:r>
            <a:r>
              <a:rPr lang="en-US" altLang="ko-KR" dirty="0" smtClean="0"/>
              <a:t>`` = 5; the filter is composed of two samples from either side of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the evaluated sample and the sample itself. ``</a:t>
            </a:r>
            <a:r>
              <a:rPr lang="en-US" altLang="ko-KR" dirty="0" err="1" smtClean="0"/>
              <a:t>windowLength</a:t>
            </a:r>
            <a:r>
              <a:rPr lang="en-US" altLang="ko-KR" dirty="0" smtClean="0"/>
              <a:t>`` must be odd to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centre</a:t>
            </a:r>
            <a:r>
              <a:rPr lang="en-US" altLang="ko-KR" dirty="0" smtClean="0"/>
              <a:t> the average value within the window.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The median filter is less sensitive to extremes (best for spike removal), whereas the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boxcar and triangle filters are more effective at noise reduction and smoothing.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rsk.smooth</a:t>
            </a:r>
            <a:r>
              <a:rPr lang="en-US" altLang="ko-KR" dirty="0"/>
              <a:t>(channels=["temperature", "salinity"], </a:t>
            </a:r>
            <a:r>
              <a:rPr lang="en-US" altLang="ko-KR" dirty="0" err="1"/>
              <a:t>windowLength</a:t>
            </a:r>
            <a:r>
              <a:rPr lang="en-US" altLang="ko-KR" dirty="0"/>
              <a:t>=17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67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64390E6-E677-C35A-6B8C-7B613745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0D79448-3AFE-9C94-F0E0-CD6AF9741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8B66742-266F-ED52-84F5-E0F3DF3B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F655C84-19AA-80CD-64AA-08054089CF55}"/>
              </a:ext>
            </a:extLst>
          </p:cNvPr>
          <p:cNvSpPr/>
          <p:nvPr/>
        </p:nvSpPr>
        <p:spPr>
          <a:xfrm>
            <a:off x="166256" y="1682465"/>
            <a:ext cx="2595416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6FE81B5-47C4-3DE1-71BB-BCCD13BAE306}"/>
              </a:ext>
            </a:extLst>
          </p:cNvPr>
          <p:cNvSpPr txBox="1"/>
          <p:nvPr/>
        </p:nvSpPr>
        <p:spPr>
          <a:xfrm>
            <a:off x="638257" y="163962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반응지연 계산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E9CFE9B-A48F-D6D5-55A6-D50CF13ED6D7}"/>
              </a:ext>
            </a:extLst>
          </p:cNvPr>
          <p:cNvSpPr/>
          <p:nvPr/>
        </p:nvSpPr>
        <p:spPr>
          <a:xfrm>
            <a:off x="1016001" y="1351176"/>
            <a:ext cx="1745671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9E1F0B-5380-EB6B-5429-FFD9EAB88C30}"/>
              </a:ext>
            </a:extLst>
          </p:cNvPr>
          <p:cNvSpPr txBox="1"/>
          <p:nvPr/>
        </p:nvSpPr>
        <p:spPr>
          <a:xfrm>
            <a:off x="1334838" y="13116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자료항목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8F4D8531-1361-5044-D6E4-9BCDBFE926BE}"/>
              </a:ext>
            </a:extLst>
          </p:cNvPr>
          <p:cNvSpPr/>
          <p:nvPr/>
        </p:nvSpPr>
        <p:spPr>
          <a:xfrm>
            <a:off x="443345" y="2019589"/>
            <a:ext cx="1016000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2A40EF0-6AFF-2A33-A55A-B049877DA313}"/>
              </a:ext>
            </a:extLst>
          </p:cNvPr>
          <p:cNvSpPr txBox="1"/>
          <p:nvPr/>
        </p:nvSpPr>
        <p:spPr>
          <a:xfrm>
            <a:off x="411965" y="19767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반응지연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C8209CF9-0008-0CBD-4A92-4DA924B8E25E}"/>
              </a:ext>
            </a:extLst>
          </p:cNvPr>
          <p:cNvSpPr/>
          <p:nvPr/>
        </p:nvSpPr>
        <p:spPr>
          <a:xfrm>
            <a:off x="1490725" y="2019589"/>
            <a:ext cx="1270947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07F25C8-9EA5-D04B-4064-02D37639A6D2}"/>
              </a:ext>
            </a:extLst>
          </p:cNvPr>
          <p:cNvSpPr txBox="1"/>
          <p:nvPr/>
        </p:nvSpPr>
        <p:spPr>
          <a:xfrm>
            <a:off x="1768763" y="19767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5815" y="249654"/>
            <a:ext cx="9119507" cy="655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3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 smtClean="0"/>
              <a:t>alignchannel</a:t>
            </a:r>
            <a:r>
              <a:rPr lang="en-US" altLang="ko-KR" dirty="0" smtClean="0"/>
              <a:t>(self</a:t>
            </a:r>
            <a:r>
              <a:rPr lang="en-US" altLang="ko-KR" dirty="0"/>
              <a:t>: </a:t>
            </a:r>
            <a:r>
              <a:rPr lang="en-US" altLang="ko-KR" dirty="0" smtClean="0"/>
              <a:t>RSK, channel</a:t>
            </a:r>
            <a:r>
              <a:rPr lang="en-US" altLang="ko-KR" dirty="0"/>
              <a:t>: 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, lag</a:t>
            </a:r>
            <a:r>
              <a:rPr lang="en-US" altLang="ko-KR" dirty="0"/>
              <a:t>: Union[float, Collection[float]],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smtClean="0"/>
              <a:t>   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</a:t>
            </a:r>
            <a:r>
              <a:rPr lang="en-US" altLang="ko-KR" dirty="0" smtClean="0"/>
              <a:t>[],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"both",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smtClean="0"/>
              <a:t>    </a:t>
            </a:r>
            <a:r>
              <a:rPr lang="en-US" altLang="ko-KR" dirty="0" err="1" smtClean="0"/>
              <a:t>shiftfill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</a:t>
            </a:r>
            <a:r>
              <a:rPr lang="en-US" altLang="ko-KR" dirty="0" err="1"/>
              <a:t>zeroorderhold</a:t>
            </a:r>
            <a:r>
              <a:rPr lang="en-US" altLang="ko-KR" dirty="0" smtClean="0"/>
              <a:t>", </a:t>
            </a:r>
            <a:r>
              <a:rPr lang="en-US" altLang="ko-KR" dirty="0" err="1" smtClean="0"/>
              <a:t>lagunits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"samples",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) -&gt; </a:t>
            </a:r>
            <a:r>
              <a:rPr lang="en-US" altLang="ko-KR" dirty="0" err="1"/>
              <a:t>None</a:t>
            </a:r>
            <a:r>
              <a:rPr lang="en-US" altLang="ko-KR" dirty="0" err="1" smtClean="0"/>
              <a:t>:"""</a:t>
            </a:r>
            <a:r>
              <a:rPr lang="en-US" altLang="ko-KR" dirty="0" err="1"/>
              <a:t>Align</a:t>
            </a:r>
            <a:r>
              <a:rPr lang="en-US" altLang="ko-KR" dirty="0"/>
              <a:t> a channel using a specified lag.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3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): </a:t>
            </a:r>
            <a:r>
              <a:rPr lang="en-US" altLang="ko-KR" dirty="0" err="1"/>
              <a:t>longName</a:t>
            </a:r>
            <a:r>
              <a:rPr lang="en-US" altLang="ko-KR" dirty="0"/>
              <a:t> of the channel to align (e.g. temperature)</a:t>
            </a:r>
          </a:p>
          <a:p>
            <a:pPr fontAlgn="base">
              <a:lnSpc>
                <a:spcPts val="23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lag</a:t>
            </a:r>
            <a:r>
              <a:rPr lang="en-US" altLang="ko-KR" dirty="0"/>
              <a:t> (Union[float, Collection[float]]): lag to apply to the channel, negative lag </a:t>
            </a:r>
            <a:endParaRPr lang="en-US" altLang="ko-KR" dirty="0" smtClean="0"/>
          </a:p>
          <a:p>
            <a:pPr fontAlgn="base">
              <a:lnSpc>
                <a:spcPts val="23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shifts </a:t>
            </a:r>
            <a:r>
              <a:rPr lang="en-US" altLang="ko-KR" dirty="0"/>
              <a:t>the channel backwards in time (earlier), while a positive lag shifts the </a:t>
            </a:r>
            <a:endParaRPr lang="en-US" altLang="ko-KR" dirty="0" smtClean="0"/>
          </a:p>
          <a:p>
            <a:pPr fontAlgn="base">
              <a:lnSpc>
                <a:spcPts val="23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channel </a:t>
            </a:r>
            <a:r>
              <a:rPr lang="en-US" altLang="ko-KR" dirty="0"/>
              <a:t>forward in time (later)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</a:t>
            </a:r>
            <a:endParaRPr lang="en-US" altLang="ko-KR" dirty="0" smtClean="0"/>
          </a:p>
          <a:p>
            <a:pPr fontAlgn="base">
              <a:lnSpc>
                <a:spcPts val="23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None (all available profiles)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direction 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</a:t>
            </a:r>
            <a:endParaRPr lang="en-US" altLang="ko-KR" dirty="0" smtClean="0"/>
          </a:p>
          <a:p>
            <a:pPr fontAlgn="base">
              <a:lnSpc>
                <a:spcPts val="23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"both".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err="1"/>
              <a:t>shiftfill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, optional): shift fill treatment of "</a:t>
            </a:r>
            <a:r>
              <a:rPr lang="en-US" altLang="ko-KR" dirty="0" err="1"/>
              <a:t>zeroorderhold</a:t>
            </a:r>
            <a:r>
              <a:rPr lang="en-US" altLang="ko-KR" dirty="0"/>
              <a:t>", "nan", or "mirror". </a:t>
            </a:r>
            <a:endParaRPr lang="en-US" altLang="ko-KR" dirty="0" smtClean="0"/>
          </a:p>
          <a:p>
            <a:pPr fontAlgn="base">
              <a:lnSpc>
                <a:spcPts val="23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"</a:t>
            </a:r>
            <a:r>
              <a:rPr lang="en-US" altLang="ko-KR" dirty="0" err="1"/>
              <a:t>zeroorderhold</a:t>
            </a:r>
            <a:r>
              <a:rPr lang="en-US" altLang="ko-KR" dirty="0"/>
              <a:t>".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err="1"/>
              <a:t>lagunits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, optional): lag units, either "samples" or "seconds". Defaults to "samples".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 smtClean="0"/>
              <a:t>&gt;&gt;&gt; </a:t>
            </a:r>
            <a:r>
              <a:rPr lang="en-US" altLang="ko-KR" dirty="0" err="1"/>
              <a:t>rsk.alignchannel</a:t>
            </a:r>
            <a:r>
              <a:rPr lang="en-US" altLang="ko-KR" dirty="0"/>
              <a:t>(channel="temperature", lag=2, profiles=range(0,3))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&gt;&gt;&gt; </a:t>
            </a:r>
            <a:r>
              <a:rPr lang="en-US" altLang="ko-KR" dirty="0" err="1" smtClean="0"/>
              <a:t>rsk.alignchannel</a:t>
            </a:r>
            <a:r>
              <a:rPr lang="en-US" altLang="ko-KR" dirty="0" smtClean="0"/>
              <a:t>(channel</a:t>
            </a:r>
            <a:r>
              <a:rPr lang="en-US" altLang="ko-KR" dirty="0"/>
              <a:t>="dissolved_o2_concentration", lag=[2,1,-1,0], profiles=range(0,3))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&gt;&gt;&gt; </a:t>
            </a:r>
            <a:r>
              <a:rPr lang="en-US" altLang="ko-KR" dirty="0" smtClean="0"/>
              <a:t>lag </a:t>
            </a:r>
            <a:r>
              <a:rPr lang="en-US" altLang="ko-KR" dirty="0"/>
              <a:t>= </a:t>
            </a:r>
            <a:r>
              <a:rPr lang="en-US" altLang="ko-KR" dirty="0" err="1"/>
              <a:t>rsk.calculateCTlag</a:t>
            </a:r>
            <a:r>
              <a:rPr lang="en-US" altLang="ko-KR" dirty="0"/>
              <a:t>()</a:t>
            </a:r>
          </a:p>
          <a:p>
            <a:pPr fontAlgn="base">
              <a:lnSpc>
                <a:spcPts val="2300"/>
              </a:lnSpc>
            </a:pPr>
            <a:r>
              <a:rPr lang="en-US" altLang="ko-KR" dirty="0"/>
              <a:t>&gt;&gt;&gt; </a:t>
            </a:r>
            <a:r>
              <a:rPr lang="en-US" altLang="ko-KR" dirty="0" err="1" smtClean="0"/>
              <a:t>rsk.alignchannel</a:t>
            </a:r>
            <a:r>
              <a:rPr lang="en-US" altLang="ko-KR" dirty="0" smtClean="0"/>
              <a:t>(channel</a:t>
            </a:r>
            <a:r>
              <a:rPr lang="en-US" altLang="ko-KR" dirty="0"/>
              <a:t>="conductivity", lag=lag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27983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64390E6-E677-C35A-6B8C-7B613745B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00D79448-3AFE-9C94-F0E0-CD6AF9741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8B66742-266F-ED52-84F5-E0F3DF3B6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xmlns="" id="{1F655C84-19AA-80CD-64AA-08054089CF55}"/>
              </a:ext>
            </a:extLst>
          </p:cNvPr>
          <p:cNvSpPr/>
          <p:nvPr/>
        </p:nvSpPr>
        <p:spPr>
          <a:xfrm>
            <a:off x="166256" y="1682465"/>
            <a:ext cx="2595416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6FE81B5-47C4-3DE1-71BB-BCCD13BAE306}"/>
              </a:ext>
            </a:extLst>
          </p:cNvPr>
          <p:cNvSpPr txBox="1"/>
          <p:nvPr/>
        </p:nvSpPr>
        <p:spPr>
          <a:xfrm>
            <a:off x="638257" y="1639628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반응지연 계산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9E9CFE9B-A48F-D6D5-55A6-D50CF13ED6D7}"/>
              </a:ext>
            </a:extLst>
          </p:cNvPr>
          <p:cNvSpPr/>
          <p:nvPr/>
        </p:nvSpPr>
        <p:spPr>
          <a:xfrm>
            <a:off x="1016001" y="1351176"/>
            <a:ext cx="1745671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39E1F0B-5380-EB6B-5429-FFD9EAB88C30}"/>
              </a:ext>
            </a:extLst>
          </p:cNvPr>
          <p:cNvSpPr txBox="1"/>
          <p:nvPr/>
        </p:nvSpPr>
        <p:spPr>
          <a:xfrm>
            <a:off x="1334838" y="13116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자료항목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xmlns="" id="{8F4D8531-1361-5044-D6E4-9BCDBFE926BE}"/>
              </a:ext>
            </a:extLst>
          </p:cNvPr>
          <p:cNvSpPr/>
          <p:nvPr/>
        </p:nvSpPr>
        <p:spPr>
          <a:xfrm>
            <a:off x="443345" y="2019589"/>
            <a:ext cx="1016000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2A40EF0-6AFF-2A33-A55A-B049877DA313}"/>
              </a:ext>
            </a:extLst>
          </p:cNvPr>
          <p:cNvSpPr txBox="1"/>
          <p:nvPr/>
        </p:nvSpPr>
        <p:spPr>
          <a:xfrm>
            <a:off x="411965" y="19767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반응지연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xmlns="" id="{C8209CF9-0008-0CBD-4A92-4DA924B8E25E}"/>
              </a:ext>
            </a:extLst>
          </p:cNvPr>
          <p:cNvSpPr/>
          <p:nvPr/>
        </p:nvSpPr>
        <p:spPr>
          <a:xfrm>
            <a:off x="1490725" y="2019589"/>
            <a:ext cx="1270947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507F25C8-9EA5-D04B-4064-02D37639A6D2}"/>
              </a:ext>
            </a:extLst>
          </p:cNvPr>
          <p:cNvSpPr txBox="1"/>
          <p:nvPr/>
        </p:nvSpPr>
        <p:spPr>
          <a:xfrm>
            <a:off x="1768763" y="197675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5815" y="249654"/>
            <a:ext cx="911950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dirty="0" err="1" smtClean="0"/>
              <a:t>calculateCTlag</a:t>
            </a:r>
            <a:r>
              <a:rPr lang="en-US" altLang="ko-KR" dirty="0" smtClean="0"/>
              <a:t>(self</a:t>
            </a:r>
            <a:r>
              <a:rPr lang="en-US" altLang="ko-KR" dirty="0"/>
              <a:t>: 'RSK</a:t>
            </a:r>
            <a:r>
              <a:rPr lang="en-US" altLang="ko-KR" dirty="0" smtClean="0"/>
              <a:t>', </a:t>
            </a:r>
            <a:r>
              <a:rPr lang="en-US" altLang="ko-KR" dirty="0" err="1" smtClean="0"/>
              <a:t>seapressureRange</a:t>
            </a:r>
            <a:r>
              <a:rPr lang="en-US" altLang="ko-KR" dirty="0"/>
              <a:t>: 'Optional[Tuple[float, float]]' = None,</a:t>
            </a:r>
          </a:p>
          <a:p>
            <a:pPr fontAlgn="base"/>
            <a:r>
              <a:rPr lang="en-US" altLang="ko-KR" dirty="0" smtClean="0"/>
              <a:t>    profiles</a:t>
            </a:r>
            <a:r>
              <a:rPr lang="en-US" altLang="ko-KR" dirty="0"/>
              <a:t>: 'Optional[Union[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]]]' = </a:t>
            </a:r>
            <a:r>
              <a:rPr lang="en-US" altLang="ko-KR" dirty="0" smtClean="0"/>
              <a:t>[], direction</a:t>
            </a:r>
            <a:r>
              <a:rPr lang="en-US" altLang="ko-KR" dirty="0"/>
              <a:t>: '</a:t>
            </a:r>
            <a:r>
              <a:rPr lang="en-US" altLang="ko-KR" dirty="0" err="1"/>
              <a:t>str</a:t>
            </a:r>
            <a:r>
              <a:rPr lang="en-US" altLang="ko-KR" dirty="0"/>
              <a:t>' = 'both',</a:t>
            </a:r>
          </a:p>
          <a:p>
            <a:pPr fontAlgn="base"/>
            <a:r>
              <a:rPr lang="en-US" altLang="ko-KR" dirty="0" smtClean="0"/>
              <a:t>    </a:t>
            </a:r>
            <a:r>
              <a:rPr lang="en-US" altLang="ko-KR" dirty="0" err="1" smtClean="0"/>
              <a:t>windowLength</a:t>
            </a:r>
            <a:r>
              <a:rPr lang="en-US" altLang="ko-KR" dirty="0"/>
              <a:t>: '</a:t>
            </a:r>
            <a:r>
              <a:rPr lang="en-US" altLang="ko-KR" dirty="0" err="1"/>
              <a:t>int</a:t>
            </a:r>
            <a:r>
              <a:rPr lang="en-US" altLang="ko-KR" dirty="0"/>
              <a:t>' = </a:t>
            </a:r>
            <a:r>
              <a:rPr lang="en-US" altLang="ko-KR" dirty="0" smtClean="0"/>
              <a:t>21) </a:t>
            </a:r>
            <a:r>
              <a:rPr lang="en-US" altLang="ko-KR" dirty="0"/>
              <a:t>-&gt; 'List[float]'</a:t>
            </a:r>
          </a:p>
          <a:p>
            <a:pPr fontAlgn="base"/>
            <a:r>
              <a:rPr lang="en-US" altLang="ko-KR" dirty="0" err="1" smtClean="0"/>
              <a:t>Args</a:t>
            </a:r>
            <a:r>
              <a:rPr lang="en-US" altLang="ko-KR" dirty="0"/>
              <a:t>:</a:t>
            </a:r>
          </a:p>
          <a:p>
            <a:pPr fontAlgn="base"/>
            <a:r>
              <a:rPr lang="en-US" altLang="ko-KR" dirty="0" err="1"/>
              <a:t>seapressureRange</a:t>
            </a:r>
            <a:r>
              <a:rPr lang="en-US" altLang="ko-KR" dirty="0"/>
              <a:t> (Tuple[float, float], optional): limits of the </a:t>
            </a:r>
            <a:r>
              <a:rPr lang="en-US" altLang="ko-KR" dirty="0" err="1"/>
              <a:t>sea_pressure</a:t>
            </a:r>
            <a:r>
              <a:rPr lang="en-US" altLang="ko-KR" dirty="0"/>
              <a:t> range used </a:t>
            </a:r>
            <a:endParaRPr lang="en-US" altLang="ko-KR" dirty="0" smtClean="0"/>
          </a:p>
          <a:p>
            <a:pPr fontAlgn="base"/>
            <a:r>
              <a:rPr lang="en-US" altLang="ko-KR" dirty="0" smtClean="0"/>
              <a:t>    to </a:t>
            </a:r>
            <a:r>
              <a:rPr lang="en-US" altLang="ko-KR" dirty="0"/>
              <a:t>obtain the lag.</a:t>
            </a:r>
          </a:p>
          <a:p>
            <a:pPr fontAlgn="base"/>
            <a:r>
              <a:rPr lang="en-US" altLang="ko-KR" dirty="0"/>
              <a:t>Specify as a two-element tuple, [</a:t>
            </a:r>
            <a:r>
              <a:rPr lang="en-US" altLang="ko-KR" dirty="0" err="1"/>
              <a:t>seapressureMin</a:t>
            </a:r>
            <a:r>
              <a:rPr lang="en-US" altLang="ko-KR" dirty="0"/>
              <a:t>, </a:t>
            </a:r>
            <a:r>
              <a:rPr lang="en-US" altLang="ko-KR" dirty="0" err="1"/>
              <a:t>seapressureMax</a:t>
            </a:r>
            <a:r>
              <a:rPr lang="en-US" altLang="ko-KR" dirty="0"/>
              <a:t>]. Default is </a:t>
            </a:r>
            <a:r>
              <a:rPr lang="en-US" altLang="ko-KR" dirty="0" smtClean="0"/>
              <a:t>None.</a:t>
            </a:r>
            <a:endParaRPr lang="en-US" altLang="ko-KR" dirty="0"/>
          </a:p>
          <a:p>
            <a:pPr fontAlgn="base"/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Defaults </a:t>
            </a:r>
            <a:r>
              <a:rPr lang="en-US" altLang="ko-KR" dirty="0" smtClean="0"/>
              <a:t>to None.</a:t>
            </a:r>
          </a:p>
          <a:p>
            <a:pPr fontAlgn="base"/>
            <a:r>
              <a:rPr lang="en-US" altLang="ko-KR" dirty="0" smtClean="0"/>
              <a:t>direction </a:t>
            </a:r>
            <a:r>
              <a:rPr lang="en-US" altLang="ko-KR" dirty="0"/>
              <a:t>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Defaults to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"</a:t>
            </a:r>
            <a:r>
              <a:rPr lang="en-US" altLang="ko-KR" dirty="0"/>
              <a:t>both".</a:t>
            </a:r>
          </a:p>
          <a:p>
            <a:pPr fontAlgn="base"/>
            <a:r>
              <a:rPr lang="en-US" altLang="ko-KR" dirty="0" err="1"/>
              <a:t>windowLength</a:t>
            </a:r>
            <a:r>
              <a:rPr lang="en-US" altLang="ko-KR" dirty="0"/>
              <a:t> (</a:t>
            </a:r>
            <a:r>
              <a:rPr lang="en-US" altLang="ko-KR" dirty="0" err="1"/>
              <a:t>int</a:t>
            </a:r>
            <a:r>
              <a:rPr lang="en-US" altLang="ko-KR" dirty="0"/>
              <a:t>, optional): length of the filter window used for the reference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salinity</a:t>
            </a:r>
            <a:r>
              <a:rPr lang="en-US" altLang="ko-KR" dirty="0"/>
              <a:t>. Defaults to 21.</a:t>
            </a:r>
          </a:p>
          <a:p>
            <a:pPr fontAlgn="base"/>
            <a:r>
              <a:rPr lang="en-US" altLang="ko-KR" dirty="0"/>
              <a:t>Returns:</a:t>
            </a:r>
          </a:p>
          <a:p>
            <a:pPr fontAlgn="base"/>
            <a:r>
              <a:rPr lang="en-US" altLang="ko-KR" dirty="0"/>
              <a:t>List[float]: optimal lag of conductivity for each profile. These can serve as inputs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into </a:t>
            </a:r>
            <a:r>
              <a:rPr lang="en-US" altLang="ko-KR" dirty="0"/>
              <a:t>:meth:`.</a:t>
            </a:r>
            <a:r>
              <a:rPr lang="en-US" altLang="ko-KR" dirty="0" err="1"/>
              <a:t>RSK.alignchannel</a:t>
            </a:r>
            <a:r>
              <a:rPr lang="en-US" altLang="ko-KR" dirty="0"/>
              <a:t>`.</a:t>
            </a:r>
          </a:p>
          <a:p>
            <a:pPr fontAlgn="base"/>
            <a:r>
              <a:rPr lang="en-US" altLang="ko-KR" dirty="0"/>
              <a:t>Estimates the optimal conductivity time shift relative to temperature in order to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minimise</a:t>
            </a:r>
            <a:r>
              <a:rPr lang="en-US" altLang="ko-KR" dirty="0" smtClean="0"/>
              <a:t> </a:t>
            </a:r>
            <a:r>
              <a:rPr lang="en-US" altLang="ko-KR" dirty="0"/>
              <a:t>salinity spiking.</a:t>
            </a:r>
          </a:p>
          <a:p>
            <a:pPr fontAlgn="base"/>
            <a:r>
              <a:rPr lang="en-US" altLang="ko-KR" dirty="0"/>
              <a:t>The algorithm works by computing the salinity for conductivity lags of -20 to 20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samples </a:t>
            </a:r>
            <a:r>
              <a:rPr lang="en-US" altLang="ko-KR" dirty="0"/>
              <a:t>at 1 sample increments.</a:t>
            </a:r>
          </a:p>
          <a:p>
            <a:pPr fontAlgn="base"/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/>
            <a:r>
              <a:rPr lang="en-US" altLang="ko-KR" dirty="0"/>
              <a:t>&gt;&gt;&gt; </a:t>
            </a:r>
            <a:r>
              <a:rPr lang="en-US" altLang="ko-KR" dirty="0" err="1"/>
              <a:t>rsk.calculateCTlag</a:t>
            </a:r>
            <a:r>
              <a:rPr lang="en-US" altLang="ko-KR" dirty="0"/>
              <a:t>(</a:t>
            </a:r>
            <a:r>
              <a:rPr lang="en-US" altLang="ko-KR" dirty="0" err="1"/>
              <a:t>seapressureRange</a:t>
            </a:r>
            <a:r>
              <a:rPr lang="en-US" altLang="ko-KR" dirty="0"/>
              <a:t>=[0, 1.0])</a:t>
            </a:r>
          </a:p>
          <a:p>
            <a:pPr fontAlgn="base"/>
            <a:r>
              <a:rPr lang="en-US" altLang="ko-KR" dirty="0"/>
              <a:t>... # Optional arguments</a:t>
            </a:r>
          </a:p>
          <a:p>
            <a:pPr fontAlgn="base"/>
            <a:r>
              <a:rPr lang="en-US" altLang="ko-KR" dirty="0"/>
              <a:t>... </a:t>
            </a:r>
            <a:r>
              <a:rPr lang="en-US" altLang="ko-KR" spc="-150" dirty="0" err="1"/>
              <a:t>rsk.calculateCTlag</a:t>
            </a:r>
            <a:r>
              <a:rPr lang="en-US" altLang="ko-KR" spc="-150" dirty="0"/>
              <a:t>(</a:t>
            </a:r>
            <a:r>
              <a:rPr lang="en-US" altLang="ko-KR" spc="-150" dirty="0" err="1"/>
              <a:t>seapressureRange</a:t>
            </a:r>
            <a:r>
              <a:rPr lang="en-US" altLang="ko-KR" spc="-150" dirty="0"/>
              <a:t>=[0, 1.0], profiles=1, direction="up", </a:t>
            </a:r>
            <a:r>
              <a:rPr lang="en-US" altLang="ko-KR" spc="-150" dirty="0" err="1"/>
              <a:t>windowLength</a:t>
            </a:r>
            <a:r>
              <a:rPr lang="en-US" altLang="ko-KR" spc="-150" dirty="0"/>
              <a:t>=23</a:t>
            </a:r>
            <a:r>
              <a:rPr lang="en-US" altLang="ko-KR" spc="-150" dirty="0" smtClean="0"/>
              <a:t>)</a:t>
            </a:r>
            <a:endParaRPr lang="en-US" altLang="ko-KR" spc="-150" dirty="0"/>
          </a:p>
        </p:txBody>
      </p:sp>
    </p:spTree>
    <p:extLst>
      <p:ext uri="{BB962C8B-B14F-4D97-AF65-F5344CB8AC3E}">
        <p14:creationId xmlns:p14="http://schemas.microsoft.com/office/powerpoint/2010/main" val="3692560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ECA796F-438F-EEFC-BE4A-AD79CC3B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877BBBE-BB29-9D95-83D1-1F9092B6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937A4467-0F02-4F4F-5C40-6879BED9A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CEBA6E58-20DE-FB11-BFC9-15F2C81E307C}"/>
              </a:ext>
            </a:extLst>
          </p:cNvPr>
          <p:cNvSpPr/>
          <p:nvPr/>
        </p:nvSpPr>
        <p:spPr>
          <a:xfrm>
            <a:off x="166256" y="1682464"/>
            <a:ext cx="2586180" cy="101455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93E2EFD-2C2E-2E5C-C832-99829BC1DAEE}"/>
              </a:ext>
            </a:extLst>
          </p:cNvPr>
          <p:cNvSpPr txBox="1"/>
          <p:nvPr/>
        </p:nvSpPr>
        <p:spPr>
          <a:xfrm>
            <a:off x="629020" y="2055813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인하대 방식 사용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92669" y="281439"/>
            <a:ext cx="9299331" cy="6183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 smtClean="0"/>
              <a:t>correctTM</a:t>
            </a:r>
            <a:r>
              <a:rPr lang="en-US" altLang="ko-KR" dirty="0" smtClean="0"/>
              <a:t>(self</a:t>
            </a:r>
            <a:r>
              <a:rPr lang="en-US" altLang="ko-KR" dirty="0"/>
              <a:t>: RSK</a:t>
            </a:r>
            <a:r>
              <a:rPr lang="en-US" altLang="ko-KR" dirty="0" smtClean="0"/>
              <a:t>, alpha</a:t>
            </a:r>
            <a:r>
              <a:rPr lang="en-US" altLang="ko-KR" dirty="0"/>
              <a:t>: </a:t>
            </a:r>
            <a:r>
              <a:rPr lang="en-US" altLang="ko-KR" dirty="0" smtClean="0"/>
              <a:t>float, beta</a:t>
            </a:r>
            <a:r>
              <a:rPr lang="en-US" altLang="ko-KR" dirty="0"/>
              <a:t>: float</a:t>
            </a:r>
            <a:r>
              <a:rPr lang="en-US" altLang="ko-KR" dirty="0" smtClean="0"/>
              <a:t>, gamma</a:t>
            </a:r>
            <a:r>
              <a:rPr lang="en-US" altLang="ko-KR" dirty="0"/>
              <a:t>: float = 1.0,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</a:t>
            </a:r>
            <a:r>
              <a:rPr lang="en-US" altLang="ko-KR" dirty="0" smtClean="0"/>
              <a:t>[],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"both",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) -&gt; None</a:t>
            </a:r>
            <a:r>
              <a:rPr lang="en-US" altLang="ko-KR" dirty="0" smtClean="0"/>
              <a:t>: """</a:t>
            </a:r>
            <a:r>
              <a:rPr lang="en-US" altLang="ko-KR" dirty="0"/>
              <a:t>Apply a thermal mass correction to conductivity using the model of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Lueck</a:t>
            </a:r>
            <a:r>
              <a:rPr lang="en-US" altLang="ko-KR" dirty="0" smtClean="0"/>
              <a:t> </a:t>
            </a:r>
            <a:r>
              <a:rPr lang="en-US" altLang="ko-KR" dirty="0"/>
              <a:t>and </a:t>
            </a:r>
            <a:r>
              <a:rPr lang="en-US" altLang="ko-KR" dirty="0" err="1"/>
              <a:t>Picklo</a:t>
            </a:r>
            <a:r>
              <a:rPr lang="en-US" altLang="ko-KR" dirty="0"/>
              <a:t> (1990).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</a:t>
            </a:r>
            <a:r>
              <a:rPr lang="en-US" altLang="ko-KR" dirty="0"/>
              <a:t> (float): volume-weighted magnitude of the initial fluid thermal anomaly.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beta</a:t>
            </a:r>
            <a:r>
              <a:rPr lang="en-US" altLang="ko-KR" dirty="0"/>
              <a:t> (float): inverse relaxation time of the adjustment.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gamma (float, optional): temperature coefficient of conductivity (</a:t>
            </a:r>
            <a:r>
              <a:rPr lang="en-US" altLang="ko-KR" dirty="0" err="1"/>
              <a:t>dC</a:t>
            </a:r>
            <a:r>
              <a:rPr lang="en-US" altLang="ko-KR" dirty="0"/>
              <a:t>/</a:t>
            </a:r>
            <a:r>
              <a:rPr lang="en-US" altLang="ko-KR" dirty="0" err="1"/>
              <a:t>dT</a:t>
            </a:r>
            <a:r>
              <a:rPr lang="en-US" altLang="ko-KR" dirty="0"/>
              <a:t>). Defaults to 1.0.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Defaults to </a:t>
            </a:r>
            <a:r>
              <a:rPr lang="en-US" altLang="ko-KR" dirty="0" smtClean="0"/>
              <a:t>[].</a:t>
            </a:r>
            <a:endParaRPr lang="en-US" altLang="ko-KR" dirty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direction 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"both".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Applies the algorithm developed by </a:t>
            </a:r>
            <a:r>
              <a:rPr lang="en-US" altLang="ko-KR" dirty="0" err="1" smtClean="0"/>
              <a:t>Lueck</a:t>
            </a:r>
            <a:r>
              <a:rPr lang="en-US" altLang="ko-KR" dirty="0" smtClean="0"/>
              <a:t> and </a:t>
            </a:r>
            <a:r>
              <a:rPr lang="en-US" altLang="ko-KR" dirty="0" err="1" smtClean="0"/>
              <a:t>Picklo</a:t>
            </a:r>
            <a:r>
              <a:rPr lang="en-US" altLang="ko-KR" dirty="0" smtClean="0"/>
              <a:t> (1990) to minimize the effect of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conductivity cell thermal mass on measured conductivity. Conductivity cells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exchange heat with the water as they travel through temperature gradients. The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heat transfer changes the water temperature and hence the measured conductivity.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This effect will impact the derived salinity and density in the form of sharp spikes and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even a bias under certain conditions.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rsk.correctTM</a:t>
            </a:r>
            <a:r>
              <a:rPr lang="en-US" altLang="ko-KR" dirty="0"/>
              <a:t>(alpha=0.04, beta=0.1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0600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DE1A856-7CC6-9610-2D7D-1FE3AB9B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92D5B382-684A-F03E-AD07-1894C1F1D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4F599364-5B5C-EF99-14B6-F307C8B39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EED62581-3942-1568-087F-684D290609D0}"/>
              </a:ext>
            </a:extLst>
          </p:cNvPr>
          <p:cNvSpPr/>
          <p:nvPr/>
        </p:nvSpPr>
        <p:spPr>
          <a:xfrm>
            <a:off x="794327" y="1968791"/>
            <a:ext cx="1939637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FBE5790-206D-88EE-4CEC-E72E47A307D2}"/>
              </a:ext>
            </a:extLst>
          </p:cNvPr>
          <p:cNvSpPr txBox="1"/>
          <p:nvPr/>
        </p:nvSpPr>
        <p:spPr>
          <a:xfrm>
            <a:off x="1681963" y="19259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E28F3A57-ECEC-83A9-CC92-562AC7B94FC8}"/>
              </a:ext>
            </a:extLst>
          </p:cNvPr>
          <p:cNvSpPr/>
          <p:nvPr/>
        </p:nvSpPr>
        <p:spPr>
          <a:xfrm>
            <a:off x="946727" y="2342861"/>
            <a:ext cx="1787237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7EC85E5-F355-F26B-3A38-8D1154BFDFA5}"/>
              </a:ext>
            </a:extLst>
          </p:cNvPr>
          <p:cNvSpPr txBox="1"/>
          <p:nvPr/>
        </p:nvSpPr>
        <p:spPr>
          <a:xfrm>
            <a:off x="1326366" y="230002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한계속력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963008" y="310081"/>
            <a:ext cx="9073662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 smtClean="0"/>
              <a:t>removeloops</a:t>
            </a:r>
            <a:r>
              <a:rPr lang="en-US" altLang="ko-KR" dirty="0" smtClean="0"/>
              <a:t>(self</a:t>
            </a:r>
            <a:r>
              <a:rPr lang="en-US" altLang="ko-KR" dirty="0"/>
              <a:t>: RSK</a:t>
            </a:r>
            <a:r>
              <a:rPr lang="en-US" altLang="ko-KR" dirty="0" smtClean="0"/>
              <a:t>,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[],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"both</a:t>
            </a:r>
            <a:r>
              <a:rPr lang="en-US" altLang="ko-KR" dirty="0" smtClean="0"/>
              <a:t>", threshold</a:t>
            </a:r>
            <a:r>
              <a:rPr lang="en-US" altLang="ko-KR" dirty="0"/>
              <a:t>: float = 0.25,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) -&gt; List[</a:t>
            </a:r>
            <a:r>
              <a:rPr lang="en-US" altLang="ko-KR" dirty="0" err="1"/>
              <a:t>int</a:t>
            </a:r>
            <a:r>
              <a:rPr lang="en-US" altLang="ko-KR" dirty="0"/>
              <a:t>]: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"""</a:t>
            </a:r>
            <a:r>
              <a:rPr lang="en-US" altLang="ko-KR" spc="-150" dirty="0"/>
              <a:t>Remove data with a profiling rate less than a threshold and with reversed pressure (loops).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Defaults </a:t>
            </a:r>
            <a:r>
              <a:rPr lang="en-US" altLang="ko-KR" dirty="0" smtClean="0"/>
              <a:t>to.</a:t>
            </a:r>
            <a:endParaRPr lang="en-US" altLang="ko-KR" dirty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direction 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Defaults to "both".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threshold</a:t>
            </a:r>
            <a:r>
              <a:rPr lang="en-US" altLang="ko-KR" dirty="0"/>
              <a:t> (float, optional): minimum speed at which the profile must be taken.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0.25 m/s.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Flags </a:t>
            </a:r>
            <a:r>
              <a:rPr lang="en-US" altLang="ko-KR" dirty="0"/>
              <a:t>and replaces pressure reversals or profiling slowdowns with </a:t>
            </a:r>
            <a:r>
              <a:rPr lang="en-US" altLang="ko-KR" dirty="0" err="1"/>
              <a:t>NaNs</a:t>
            </a:r>
            <a:r>
              <a:rPr lang="en-US" altLang="ko-KR" dirty="0"/>
              <a:t> in the data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field of </a:t>
            </a:r>
            <a:r>
              <a:rPr lang="en-US" altLang="ko-KR" dirty="0"/>
              <a:t>this RSK instance and returns the index of these samples. Variations in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profiling rate </a:t>
            </a:r>
            <a:r>
              <a:rPr lang="en-US" altLang="ko-KR" dirty="0"/>
              <a:t>are caused by, for example, profiling from a vessel in rough seas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with </a:t>
            </a:r>
            <a:r>
              <a:rPr lang="en-US" altLang="ko-KR" dirty="0"/>
              <a:t>a taut wire, </a:t>
            </a:r>
            <a:r>
              <a:rPr lang="en-US" altLang="ko-KR" dirty="0" smtClean="0"/>
              <a:t>or </a:t>
            </a:r>
            <a:r>
              <a:rPr lang="en-US" altLang="ko-KR" dirty="0"/>
              <a:t>by lowering a CTD hand over hand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**NOTE**: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input RSK must contain a ``depth`` channel. See :meth:`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RSK.derivedepth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()`.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loops = </a:t>
            </a:r>
            <a:r>
              <a:rPr lang="en-US" altLang="ko-KR" dirty="0" err="1"/>
              <a:t>rsk.removeloops</a:t>
            </a:r>
            <a:r>
              <a:rPr lang="en-US" altLang="ko-KR" dirty="0"/>
              <a:t>(direction= "down", threshold= 0.1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5160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75992E0-4CC2-A3A1-7235-4EBDC04C3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B28F92F-9CA3-D82B-E092-015D4105D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680C023-F707-2A82-A827-A93839240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8E56B69-1278-3D09-7864-BBB47F155758}"/>
              </a:ext>
            </a:extLst>
          </p:cNvPr>
          <p:cNvSpPr/>
          <p:nvPr/>
        </p:nvSpPr>
        <p:spPr>
          <a:xfrm>
            <a:off x="129310" y="2301299"/>
            <a:ext cx="1366982" cy="98684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95184F6-EE8A-685B-0CDB-5FC41F4B2AF0}"/>
              </a:ext>
            </a:extLst>
          </p:cNvPr>
          <p:cNvSpPr txBox="1"/>
          <p:nvPr/>
        </p:nvSpPr>
        <p:spPr>
          <a:xfrm>
            <a:off x="515034" y="246233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항목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xmlns="" id="{C371E49B-0604-2A1A-FD79-2E6816A304C2}"/>
              </a:ext>
            </a:extLst>
          </p:cNvPr>
          <p:cNvSpPr/>
          <p:nvPr/>
        </p:nvSpPr>
        <p:spPr>
          <a:xfrm>
            <a:off x="1496292" y="3350898"/>
            <a:ext cx="1247854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D4DFE60-D255-F9F9-0901-013BC401899D}"/>
              </a:ext>
            </a:extLst>
          </p:cNvPr>
          <p:cNvSpPr txBox="1"/>
          <p:nvPr/>
        </p:nvSpPr>
        <p:spPr>
          <a:xfrm>
            <a:off x="1561892" y="33080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표준편차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056FC14-E003-89EF-6304-4AB2543F1E0D}"/>
              </a:ext>
            </a:extLst>
          </p:cNvPr>
          <p:cNvSpPr txBox="1"/>
          <p:nvPr/>
        </p:nvSpPr>
        <p:spPr>
          <a:xfrm>
            <a:off x="1323559" y="3648579"/>
            <a:ext cx="1584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Window </a:t>
            </a:r>
            <a:r>
              <a:rPr lang="ko-KR" altLang="en-US" dirty="0"/>
              <a:t>개수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C632C123-9799-431D-AC1F-67CF88A5AEF1}"/>
              </a:ext>
            </a:extLst>
          </p:cNvPr>
          <p:cNvSpPr/>
          <p:nvPr/>
        </p:nvSpPr>
        <p:spPr>
          <a:xfrm>
            <a:off x="1491676" y="3678787"/>
            <a:ext cx="1247854" cy="283658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048000" y="263760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 smtClean="0"/>
              <a:t>despike</a:t>
            </a:r>
            <a:r>
              <a:rPr lang="en-US" altLang="ko-KR" dirty="0" smtClean="0"/>
              <a:t>(self</a:t>
            </a:r>
            <a:r>
              <a:rPr lang="en-US" altLang="ko-KR" dirty="0"/>
              <a:t>: </a:t>
            </a:r>
            <a:r>
              <a:rPr lang="en-US" altLang="ko-KR" dirty="0" smtClean="0"/>
              <a:t>RSK, channels</a:t>
            </a:r>
            <a:r>
              <a:rPr lang="en-US" altLang="ko-KR" dirty="0"/>
              <a:t>: 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,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[],</a:t>
            </a:r>
          </a:p>
          <a:p>
            <a:pPr fontAlgn="base"/>
            <a:r>
              <a:rPr lang="en-US" altLang="ko-KR" dirty="0" smtClean="0"/>
              <a:t>   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"both</a:t>
            </a:r>
            <a:r>
              <a:rPr lang="en-US" altLang="ko-KR" dirty="0" smtClean="0"/>
              <a:t>", threshold</a:t>
            </a:r>
            <a:r>
              <a:rPr lang="en-US" altLang="ko-KR" dirty="0"/>
              <a:t>: </a:t>
            </a:r>
            <a:r>
              <a:rPr lang="en-US" altLang="ko-KR" dirty="0" err="1"/>
              <a:t>int</a:t>
            </a:r>
            <a:r>
              <a:rPr lang="en-US" altLang="ko-KR" dirty="0"/>
              <a:t> = </a:t>
            </a:r>
            <a:r>
              <a:rPr lang="en-US" altLang="ko-KR" dirty="0" smtClean="0"/>
              <a:t>2, </a:t>
            </a:r>
            <a:r>
              <a:rPr lang="en-US" altLang="ko-KR" dirty="0" err="1" smtClean="0"/>
              <a:t>windowLength</a:t>
            </a:r>
            <a:r>
              <a:rPr lang="en-US" altLang="ko-KR" dirty="0"/>
              <a:t>: </a:t>
            </a:r>
            <a:r>
              <a:rPr lang="en-US" altLang="ko-KR" dirty="0" err="1"/>
              <a:t>int</a:t>
            </a:r>
            <a:r>
              <a:rPr lang="en-US" altLang="ko-KR" dirty="0"/>
              <a:t> = </a:t>
            </a:r>
            <a:r>
              <a:rPr lang="en-US" altLang="ko-KR" dirty="0" smtClean="0"/>
              <a:t>3,</a:t>
            </a:r>
          </a:p>
          <a:p>
            <a:pPr fontAlgn="base"/>
            <a:r>
              <a:rPr lang="en-US" altLang="ko-KR" dirty="0" smtClean="0"/>
              <a:t>    action: 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 = "nan",</a:t>
            </a:r>
          </a:p>
          <a:p>
            <a:pPr fontAlgn="base"/>
            <a:r>
              <a:rPr lang="en-US" altLang="ko-KR" dirty="0" smtClean="0"/>
              <a:t>) </a:t>
            </a:r>
            <a:r>
              <a:rPr lang="en-US" altLang="ko-KR" dirty="0"/>
              <a:t>-&gt; </a:t>
            </a:r>
            <a:r>
              <a:rPr lang="en-US" altLang="ko-KR" dirty="0" err="1"/>
              <a:t>dict</a:t>
            </a:r>
            <a:r>
              <a:rPr lang="en-US" altLang="ko-KR" dirty="0"/>
              <a:t>:</a:t>
            </a:r>
          </a:p>
          <a:p>
            <a:pPr fontAlgn="base"/>
            <a:r>
              <a:rPr lang="en-US" altLang="ko-KR" dirty="0"/>
              <a:t>"""</a:t>
            </a:r>
            <a:r>
              <a:rPr lang="en-US" altLang="ko-KR" dirty="0" err="1"/>
              <a:t>Despike</a:t>
            </a:r>
            <a:r>
              <a:rPr lang="en-US" altLang="ko-KR" dirty="0"/>
              <a:t> a time series on a specified channel.</a:t>
            </a:r>
          </a:p>
          <a:p>
            <a:pPr fontAlgn="base"/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channels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): </a:t>
            </a:r>
            <a:r>
              <a:rPr lang="en-US" altLang="ko-KR" dirty="0" err="1"/>
              <a:t>longname</a:t>
            </a:r>
            <a:r>
              <a:rPr lang="en-US" altLang="ko-KR" dirty="0"/>
              <a:t> of channel to </a:t>
            </a:r>
            <a:r>
              <a:rPr lang="en-US" altLang="ko-KR" dirty="0" err="1"/>
              <a:t>despike</a:t>
            </a:r>
            <a:r>
              <a:rPr lang="en-US" altLang="ko-KR" dirty="0"/>
              <a:t> (e.g., temperature, or salinity, </a:t>
            </a:r>
            <a:r>
              <a:rPr lang="en-US" altLang="ko-KR" dirty="0" err="1"/>
              <a:t>etc</a:t>
            </a:r>
            <a:r>
              <a:rPr lang="en-US" altLang="ko-KR" dirty="0"/>
              <a:t>).</a:t>
            </a:r>
          </a:p>
          <a:p>
            <a:pPr fontAlgn="base"/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Defaults </a:t>
            </a:r>
            <a:r>
              <a:rPr lang="en-US" altLang="ko-KR" dirty="0" smtClean="0"/>
              <a:t>to.</a:t>
            </a:r>
            <a:endParaRPr lang="en-US" altLang="ko-KR" dirty="0"/>
          </a:p>
          <a:p>
            <a:pPr fontAlgn="base"/>
            <a:r>
              <a:rPr lang="en-US" altLang="ko-KR" dirty="0"/>
              <a:t>direction (</a:t>
            </a:r>
            <a:r>
              <a:rPr lang="en-US" altLang="ko-KR" dirty="0" err="1"/>
              <a:t>str</a:t>
            </a:r>
            <a:r>
              <a:rPr lang="en-US" altLang="ko-KR" dirty="0"/>
              <a:t>, optional): cast direction of either "up", "down", or "both". Defaults to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"</a:t>
            </a:r>
            <a:r>
              <a:rPr lang="en-US" altLang="ko-KR" dirty="0"/>
              <a:t>both".</a:t>
            </a:r>
          </a:p>
          <a:p>
            <a:pPr fontAlgn="base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threshold</a:t>
            </a:r>
            <a:r>
              <a:rPr lang="en-US" altLang="ko-KR" dirty="0"/>
              <a:t> (</a:t>
            </a:r>
            <a:r>
              <a:rPr lang="en-US" altLang="ko-KR" dirty="0" err="1"/>
              <a:t>int</a:t>
            </a:r>
            <a:r>
              <a:rPr lang="en-US" altLang="ko-KR" dirty="0"/>
              <a:t>, optional): amount of standard deviations to use for the spike criterion.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2.</a:t>
            </a:r>
          </a:p>
          <a:p>
            <a:pPr fontAlgn="base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windowLength</a:t>
            </a:r>
            <a:r>
              <a:rPr lang="en-US" altLang="ko-KR" dirty="0"/>
              <a:t> (</a:t>
            </a:r>
            <a:r>
              <a:rPr lang="en-US" altLang="ko-KR" dirty="0" err="1"/>
              <a:t>int</a:t>
            </a:r>
            <a:r>
              <a:rPr lang="en-US" altLang="ko-KR" dirty="0"/>
              <a:t>, optional): total size of the filter window. Must be odd.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3.</a:t>
            </a:r>
          </a:p>
          <a:p>
            <a:pPr fontAlgn="base"/>
            <a:r>
              <a:rPr lang="en-US" altLang="ko-KR" dirty="0"/>
              <a:t>action (</a:t>
            </a:r>
            <a:r>
              <a:rPr lang="en-US" altLang="ko-KR" dirty="0" err="1"/>
              <a:t>str</a:t>
            </a:r>
            <a:r>
              <a:rPr lang="en-US" altLang="ko-KR" dirty="0"/>
              <a:t>, optional): action to perform on a spike. Given "nan", spikes are replaced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with </a:t>
            </a:r>
            <a:r>
              <a:rPr lang="en-US" altLang="ko-KR" dirty="0" err="1"/>
              <a:t>NaN</a:t>
            </a:r>
            <a:r>
              <a:rPr lang="en-US" altLang="ko-KR" dirty="0"/>
              <a:t>. Other options are "replace", whereby spikes are replaced with the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corresponding </a:t>
            </a:r>
            <a:r>
              <a:rPr lang="en-US" altLang="ko-KR" dirty="0"/>
              <a:t>reference value, and "</a:t>
            </a:r>
            <a:r>
              <a:rPr lang="en-US" altLang="ko-KR" dirty="0" err="1"/>
              <a:t>interp</a:t>
            </a:r>
            <a:r>
              <a:rPr lang="en-US" altLang="ko-KR" dirty="0"/>
              <a:t>" whereby spikes are replaced with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values </a:t>
            </a:r>
            <a:r>
              <a:rPr lang="en-US" altLang="ko-KR" dirty="0"/>
              <a:t>calculated by linearly interpolating from the </a:t>
            </a:r>
            <a:r>
              <a:rPr lang="en-US" altLang="ko-KR" dirty="0" err="1"/>
              <a:t>neighbouring</a:t>
            </a:r>
            <a:r>
              <a:rPr lang="en-US" altLang="ko-KR" dirty="0"/>
              <a:t> points. </a:t>
            </a:r>
            <a:endParaRPr lang="en-US" altLang="ko-KR" dirty="0" smtClean="0"/>
          </a:p>
          <a:p>
            <a:pPr fontAlgn="base"/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"nan".</a:t>
            </a:r>
          </a:p>
          <a:p>
            <a:pPr fontAlgn="base"/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/>
            <a:r>
              <a:rPr lang="en-US" altLang="ko-KR" dirty="0"/>
              <a:t>&gt;&gt;&gt; spikes = </a:t>
            </a:r>
            <a:r>
              <a:rPr lang="en-US" altLang="ko-KR" dirty="0" err="1"/>
              <a:t>rsk.despike</a:t>
            </a:r>
            <a:r>
              <a:rPr lang="en-US" altLang="ko-KR" dirty="0"/>
              <a:t>(channel="Temperature", profiles=range(0, 4), direction="down",</a:t>
            </a:r>
          </a:p>
          <a:p>
            <a:pPr fontAlgn="base"/>
            <a:r>
              <a:rPr lang="en-US" altLang="ko-KR" dirty="0"/>
              <a:t>threshold=4.0, </a:t>
            </a:r>
            <a:r>
              <a:rPr lang="en-US" altLang="ko-KR" dirty="0" err="1"/>
              <a:t>windowLength</a:t>
            </a:r>
            <a:r>
              <a:rPr lang="en-US" altLang="ko-KR" dirty="0"/>
              <a:t>=11, action="nan")</a:t>
            </a:r>
          </a:p>
        </p:txBody>
      </p:sp>
    </p:spTree>
    <p:extLst>
      <p:ext uri="{BB962C8B-B14F-4D97-AF65-F5344CB8AC3E}">
        <p14:creationId xmlns:p14="http://schemas.microsoft.com/office/powerpoint/2010/main" val="852128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542A353-42CC-9C8F-C3DB-4BF320C0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608E9361-5FAB-934E-2835-68A21BC7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91F9147-6BCD-3149-C72A-0A493C01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7A6600A-F541-0939-581D-DCB9128A5A6C}"/>
              </a:ext>
            </a:extLst>
          </p:cNvPr>
          <p:cNvSpPr/>
          <p:nvPr/>
        </p:nvSpPr>
        <p:spPr>
          <a:xfrm>
            <a:off x="166254" y="2604655"/>
            <a:ext cx="2613891" cy="69272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E8F2854-07CC-3F2A-3ED5-ADD96A44846D}"/>
              </a:ext>
            </a:extLst>
          </p:cNvPr>
          <p:cNvSpPr txBox="1"/>
          <p:nvPr/>
        </p:nvSpPr>
        <p:spPr>
          <a:xfrm>
            <a:off x="1881012" y="2761146"/>
            <a:ext cx="66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항목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971800" y="342727"/>
            <a:ext cx="9220200" cy="5542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/>
              <a:t>derivesalinity</a:t>
            </a:r>
            <a:r>
              <a:rPr lang="en-US" altLang="ko-KR" dirty="0"/>
              <a:t>(self: RSK, </a:t>
            </a:r>
            <a:r>
              <a:rPr lang="en-US" altLang="ko-KR" dirty="0" err="1"/>
              <a:t>seawaterLibrary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"TEOS-10") -&gt; None: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"""Calculate practical salinity.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seawaterLibrary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, optional): which underlying library this method should utilize. Current support includes: "TEOS-10". Defaults to "TEOS-10".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Calculates salinity from measurements of conductivity, temperature, and sea pressure,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using </a:t>
            </a:r>
            <a:r>
              <a:rPr lang="en-US" altLang="ko-KR" dirty="0"/>
              <a:t>the TEOS-10 GSW function ``</a:t>
            </a:r>
            <a:r>
              <a:rPr lang="en-US" altLang="ko-KR" dirty="0" err="1"/>
              <a:t>gsw_SP_from_C</a:t>
            </a:r>
            <a:r>
              <a:rPr lang="en-US" altLang="ko-KR" dirty="0"/>
              <a:t>``.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It </a:t>
            </a:r>
            <a:r>
              <a:rPr lang="en-US" altLang="ko-KR" dirty="0"/>
              <a:t>requires the current RSK instance to be populated with conductivity, temperature,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and </a:t>
            </a:r>
            <a:r>
              <a:rPr lang="en-US" altLang="ko-KR" dirty="0"/>
              <a:t>pressure data.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If there is already a salinity channel present, this method replaces the values with a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new </a:t>
            </a:r>
            <a:r>
              <a:rPr lang="en-US" altLang="ko-KR" dirty="0"/>
              <a:t>calculation of salinity.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If sea pressure is not present, this method calculates it with the default atmospheric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pressure</a:t>
            </a:r>
            <a:r>
              <a:rPr lang="en-US" altLang="ko-KR" dirty="0"/>
              <a:t>, usually 10.1325 </a:t>
            </a:r>
            <a:r>
              <a:rPr lang="en-US" altLang="ko-KR" dirty="0" err="1"/>
              <a:t>dbar</a:t>
            </a:r>
            <a:r>
              <a:rPr lang="en-US" altLang="ko-KR" dirty="0"/>
              <a:t>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rsk.derivesalinity</a:t>
            </a:r>
            <a:r>
              <a:rPr lang="en-US" altLang="ko-KR" dirty="0"/>
              <a:t>()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... # Optional arguments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... </a:t>
            </a:r>
            <a:r>
              <a:rPr lang="en-US" altLang="ko-KR" dirty="0" err="1"/>
              <a:t>rsk.derivesalinity</a:t>
            </a:r>
            <a:r>
              <a:rPr lang="en-US" altLang="ko-KR" dirty="0"/>
              <a:t>(</a:t>
            </a:r>
            <a:r>
              <a:rPr lang="en-US" altLang="ko-KR" dirty="0" err="1"/>
              <a:t>seawaterLibrary</a:t>
            </a:r>
            <a:r>
              <a:rPr lang="en-US" altLang="ko-KR" dirty="0"/>
              <a:t>="TEOS-10")</a:t>
            </a:r>
          </a:p>
        </p:txBody>
      </p:sp>
    </p:spTree>
    <p:extLst>
      <p:ext uri="{BB962C8B-B14F-4D97-AF65-F5344CB8AC3E}">
        <p14:creationId xmlns:p14="http://schemas.microsoft.com/office/powerpoint/2010/main" val="3063877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542A353-42CC-9C8F-C3DB-4BF320C0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608E9361-5FAB-934E-2835-68A21BC7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91F9147-6BCD-3149-C72A-0A493C01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xmlns="" id="{E7A6600A-F541-0939-581D-DCB9128A5A6C}"/>
              </a:ext>
            </a:extLst>
          </p:cNvPr>
          <p:cNvSpPr/>
          <p:nvPr/>
        </p:nvSpPr>
        <p:spPr>
          <a:xfrm>
            <a:off x="166254" y="2604655"/>
            <a:ext cx="2613891" cy="692727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E8F2854-07CC-3F2A-3ED5-ADD96A44846D}"/>
              </a:ext>
            </a:extLst>
          </p:cNvPr>
          <p:cNvSpPr txBox="1"/>
          <p:nvPr/>
        </p:nvSpPr>
        <p:spPr>
          <a:xfrm>
            <a:off x="1881012" y="2761146"/>
            <a:ext cx="668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항목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980592" y="263235"/>
            <a:ext cx="9211408" cy="5512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/>
              <a:t>derivedepth</a:t>
            </a:r>
            <a:r>
              <a:rPr lang="en-US" altLang="ko-KR" dirty="0"/>
              <a:t>(self: RSK, latitude: float = 45.0, </a:t>
            </a:r>
            <a:r>
              <a:rPr lang="en-US" altLang="ko-KR" dirty="0" err="1"/>
              <a:t>seawaterLibrary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"TEOS-10") -&gt; None: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"""Calculate depth from pressure.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latitude (float, optional)</a:t>
            </a:r>
            <a:r>
              <a:rPr lang="en-US" altLang="ko-KR" dirty="0"/>
              <a:t>: latitude of the pressure measurement in decimal degrees.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Defaults </a:t>
            </a:r>
            <a:r>
              <a:rPr lang="en-US" altLang="ko-KR" dirty="0"/>
              <a:t>to 45.0.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seawaterLibrary</a:t>
            </a:r>
            <a:r>
              <a:rPr lang="en-US" altLang="ko-KR" dirty="0"/>
              <a:t> (</a:t>
            </a:r>
            <a:r>
              <a:rPr lang="en-US" altLang="ko-KR" dirty="0" err="1"/>
              <a:t>str</a:t>
            </a:r>
            <a:r>
              <a:rPr lang="en-US" altLang="ko-KR" dirty="0"/>
              <a:t>, optional): which underlying library this method should utilize. Current support includes: "TEOS-10". Defaults to "TEOS-10".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Calculates depth from pressure.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If </a:t>
            </a:r>
            <a:r>
              <a:rPr lang="en-US" altLang="ko-KR" dirty="0"/>
              <a:t>there is already a depth channel present, this method replaces the values with the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new </a:t>
            </a:r>
            <a:r>
              <a:rPr lang="en-US" altLang="ko-KR" dirty="0"/>
              <a:t>calculation of depth.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If sea pressure is not present in the current RSK instance, it is calculated with the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default </a:t>
            </a:r>
            <a:r>
              <a:rPr lang="en-US" altLang="ko-KR" dirty="0"/>
              <a:t>atmospheric pressure (10.1325 </a:t>
            </a:r>
            <a:r>
              <a:rPr lang="en-US" altLang="ko-KR" dirty="0" err="1"/>
              <a:t>dbar</a:t>
            </a:r>
            <a:r>
              <a:rPr lang="en-US" altLang="ko-KR" dirty="0"/>
              <a:t>)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Example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rsk.derivedepth</a:t>
            </a:r>
            <a:r>
              <a:rPr lang="en-US" altLang="ko-KR" dirty="0"/>
              <a:t>()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... # Optional arguments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... </a:t>
            </a:r>
            <a:r>
              <a:rPr lang="en-US" altLang="ko-KR" dirty="0" err="1"/>
              <a:t>rsk.derivedepth</a:t>
            </a:r>
            <a:r>
              <a:rPr lang="en-US" altLang="ko-KR" dirty="0"/>
              <a:t>(latitude=45.34, </a:t>
            </a:r>
            <a:r>
              <a:rPr lang="en-US" altLang="ko-KR" dirty="0" err="1"/>
              <a:t>seawaterLibrary</a:t>
            </a:r>
            <a:r>
              <a:rPr lang="en-US" altLang="ko-KR" dirty="0"/>
              <a:t>="TEOS-10")</a:t>
            </a:r>
          </a:p>
        </p:txBody>
      </p:sp>
    </p:spTree>
    <p:extLst>
      <p:ext uri="{BB962C8B-B14F-4D97-AF65-F5344CB8AC3E}">
        <p14:creationId xmlns:p14="http://schemas.microsoft.com/office/powerpoint/2010/main" val="1211741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47933486-816D-76F1-F0F9-60E576DE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B98DFE05-B501-C27F-3C47-06C4F659A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294D5B7E-C91E-6615-E17C-5008EB934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8" y="0"/>
            <a:ext cx="1201864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xmlns="" id="{3BF826AA-1429-A5F3-9307-858483A757D1}"/>
              </a:ext>
            </a:extLst>
          </p:cNvPr>
          <p:cNvSpPr/>
          <p:nvPr/>
        </p:nvSpPr>
        <p:spPr>
          <a:xfrm>
            <a:off x="1016000" y="2935578"/>
            <a:ext cx="1782617" cy="29715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438D4EF-A1BE-BFEC-3DEE-54371407745F}"/>
              </a:ext>
            </a:extLst>
          </p:cNvPr>
          <p:cNvSpPr txBox="1"/>
          <p:nvPr/>
        </p:nvSpPr>
        <p:spPr>
          <a:xfrm>
            <a:off x="1337073" y="2723997"/>
            <a:ext cx="1443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Upcast</a:t>
            </a:r>
            <a:r>
              <a:rPr lang="ko-KR" altLang="en-US" dirty="0"/>
              <a:t> 또는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downcast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048000" y="240484"/>
            <a:ext cx="9057322" cy="6504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ts val="2500"/>
              </a:lnSpc>
            </a:pPr>
            <a:r>
              <a:rPr lang="en-US" altLang="ko-KR" dirty="0" err="1"/>
              <a:t>def</a:t>
            </a:r>
            <a:r>
              <a:rPr lang="en-US" altLang="ko-KR" dirty="0"/>
              <a:t> </a:t>
            </a:r>
            <a:r>
              <a:rPr lang="en-US" altLang="ko-KR" dirty="0" err="1" smtClean="0"/>
              <a:t>binaverage</a:t>
            </a:r>
            <a:r>
              <a:rPr lang="en-US" altLang="ko-KR" dirty="0" smtClean="0"/>
              <a:t>( self</a:t>
            </a:r>
            <a:r>
              <a:rPr lang="en-US" altLang="ko-KR" dirty="0"/>
              <a:t>: </a:t>
            </a:r>
            <a:r>
              <a:rPr lang="en-US" altLang="ko-KR" dirty="0" smtClean="0"/>
              <a:t>RSK, profiles</a:t>
            </a:r>
            <a:r>
              <a:rPr lang="en-US" altLang="ko-KR" dirty="0"/>
              <a:t>: Optional[Union[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]]] = [],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direction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"down</a:t>
            </a:r>
            <a:r>
              <a:rPr lang="en-US" altLang="ko-KR" dirty="0" smtClean="0"/>
              <a:t>", </a:t>
            </a:r>
            <a:r>
              <a:rPr lang="en-US" altLang="ko-KR" dirty="0" err="1" smtClean="0"/>
              <a:t>binBy</a:t>
            </a:r>
            <a:r>
              <a:rPr lang="en-US" altLang="ko-KR" dirty="0"/>
              <a:t>: </a:t>
            </a:r>
            <a:r>
              <a:rPr lang="en-US" altLang="ko-KR" dirty="0" err="1"/>
              <a:t>str</a:t>
            </a:r>
            <a:r>
              <a:rPr lang="en-US" altLang="ko-KR" dirty="0"/>
              <a:t> = "</a:t>
            </a:r>
            <a:r>
              <a:rPr lang="en-US" altLang="ko-KR" dirty="0" err="1"/>
              <a:t>sea_pressure</a:t>
            </a:r>
            <a:r>
              <a:rPr lang="en-US" altLang="ko-KR" dirty="0" smtClean="0"/>
              <a:t>", </a:t>
            </a:r>
            <a:r>
              <a:rPr lang="en-US" altLang="ko-KR" dirty="0" err="1" smtClean="0"/>
              <a:t>binSize</a:t>
            </a:r>
            <a:r>
              <a:rPr lang="en-US" altLang="ko-KR" dirty="0"/>
              <a:t>: Union[float,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    Collection[float</a:t>
            </a:r>
            <a:r>
              <a:rPr lang="en-US" altLang="ko-KR" dirty="0"/>
              <a:t>]] = </a:t>
            </a:r>
            <a:r>
              <a:rPr lang="en-US" altLang="ko-KR" dirty="0" smtClean="0"/>
              <a:t>1.0, boundary</a:t>
            </a:r>
            <a:r>
              <a:rPr lang="en-US" altLang="ko-KR" dirty="0"/>
              <a:t>: Union[float, Collection[float]] = [],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) -&gt; </a:t>
            </a:r>
            <a:r>
              <a:rPr lang="en-US" altLang="ko-KR" dirty="0" err="1"/>
              <a:t>npt.NDArray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"""Average the profile data by a quantized reference channel.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Args</a:t>
            </a:r>
            <a:r>
              <a:rPr lang="en-US" altLang="ko-KR" dirty="0"/>
              <a:t>: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profiles (Union[</a:t>
            </a:r>
            <a:r>
              <a:rPr lang="en-US" altLang="ko-KR" dirty="0" err="1"/>
              <a:t>int</a:t>
            </a:r>
            <a:r>
              <a:rPr lang="en-US" altLang="ko-KR" dirty="0"/>
              <a:t>, Collection[</a:t>
            </a:r>
            <a:r>
              <a:rPr lang="en-US" altLang="ko-KR" dirty="0" err="1"/>
              <a:t>int</a:t>
            </a:r>
            <a:r>
              <a:rPr lang="en-US" altLang="ko-KR" dirty="0"/>
              <a:t>]], optional): profile number(s). Defaults to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direction (</a:t>
            </a:r>
            <a:r>
              <a:rPr lang="en-US" altLang="ko-KR" dirty="0" err="1" smtClean="0"/>
              <a:t>str</a:t>
            </a:r>
            <a:r>
              <a:rPr lang="en-US" altLang="ko-KR" dirty="0" smtClean="0"/>
              <a:t>, optional): cast direction of either "up" or "down". Defaults to "down".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 smtClean="0"/>
              <a:t>binBy</a:t>
            </a:r>
            <a:r>
              <a:rPr lang="en-US" altLang="ko-KR" dirty="0" smtClean="0"/>
              <a:t> </a:t>
            </a:r>
            <a:r>
              <a:rPr lang="en-US" altLang="ko-KR" dirty="0"/>
              <a:t>(</a:t>
            </a:r>
            <a:r>
              <a:rPr lang="en-US" altLang="ko-KR" dirty="0" err="1"/>
              <a:t>str</a:t>
            </a:r>
            <a:r>
              <a:rPr lang="en-US" altLang="ko-KR" dirty="0"/>
              <a:t>, optional): reference channel that determines the samples in each bin, can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be </a:t>
            </a:r>
            <a:r>
              <a:rPr lang="en-US" altLang="ko-KR" dirty="0"/>
              <a:t>``timestamp`` or any channel. Defaults to "</a:t>
            </a:r>
            <a:r>
              <a:rPr lang="en-US" altLang="ko-KR" dirty="0" err="1"/>
              <a:t>sea_pressure</a:t>
            </a:r>
            <a:r>
              <a:rPr lang="en-US" altLang="ko-KR" dirty="0"/>
              <a:t>".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err="1"/>
              <a:t>binSize</a:t>
            </a:r>
            <a:r>
              <a:rPr lang="en-US" altLang="ko-KR" dirty="0"/>
              <a:t> (Union[float, Collection[float]], optional): size of bins in each regime. </a:t>
            </a:r>
            <a:r>
              <a:rPr lang="en-US" altLang="ko-KR" dirty="0" smtClean="0"/>
              <a:t>Defaults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/>
              <a:t>to 1.0, denoting 1 unit of </a:t>
            </a:r>
            <a:r>
              <a:rPr lang="en-US" altLang="ko-KR" dirty="0" err="1"/>
              <a:t>binBy</a:t>
            </a:r>
            <a:r>
              <a:rPr lang="en-US" altLang="ko-KR" dirty="0"/>
              <a:t> channel (e.g., 1 second when </a:t>
            </a:r>
            <a:r>
              <a:rPr lang="en-US" altLang="ko-KR" dirty="0" err="1"/>
              <a:t>binBy</a:t>
            </a:r>
            <a:r>
              <a:rPr lang="en-US" altLang="ko-KR" dirty="0"/>
              <a:t> is time).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boundary (Union[float, Collection[float]], optional): first boundary crossed in the </a:t>
            </a:r>
            <a:endParaRPr lang="en-US" altLang="ko-KR" dirty="0" smtClean="0"/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direction </a:t>
            </a:r>
            <a:r>
              <a:rPr lang="en-US" altLang="ko-KR" dirty="0"/>
              <a:t>selected of each regime, in the same units as </a:t>
            </a:r>
            <a:r>
              <a:rPr lang="en-US" altLang="ko-KR" dirty="0" err="1"/>
              <a:t>binBy</a:t>
            </a:r>
            <a:r>
              <a:rPr lang="en-US" altLang="ko-KR" dirty="0"/>
              <a:t>. Must have </a:t>
            </a:r>
            <a:r>
              <a:rPr lang="en-US" altLang="ko-KR" dirty="0" smtClean="0"/>
              <a:t>    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err="1" smtClean="0"/>
              <a:t>len</a:t>
            </a:r>
            <a:r>
              <a:rPr lang="en-US" altLang="ko-KR" dirty="0" smtClean="0"/>
              <a:t>(boundary</a:t>
            </a:r>
            <a:r>
              <a:rPr lang="en-US" altLang="ko-KR" dirty="0"/>
              <a:t>) == </a:t>
            </a:r>
            <a:r>
              <a:rPr lang="en-US" altLang="ko-KR" dirty="0" err="1"/>
              <a:t>len</a:t>
            </a:r>
            <a:r>
              <a:rPr lang="en-US" altLang="ko-KR" dirty="0"/>
              <a:t>(</a:t>
            </a:r>
            <a:r>
              <a:rPr lang="en-US" altLang="ko-KR" dirty="0" err="1"/>
              <a:t>binSize</a:t>
            </a:r>
            <a:r>
              <a:rPr lang="en-US" altLang="ko-KR" dirty="0"/>
              <a:t>) or one greater. Defaults to [] (entire range).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The bins are specified using two arguments: ``</a:t>
            </a:r>
            <a:r>
              <a:rPr lang="en-US" altLang="ko-KR" dirty="0" err="1" smtClean="0"/>
              <a:t>binSize</a:t>
            </a:r>
            <a:r>
              <a:rPr lang="en-US" altLang="ko-KR" dirty="0" smtClean="0"/>
              <a:t>`` and ``boundary``.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 smtClean="0"/>
              <a:t>&gt;&gt;&gt; </a:t>
            </a:r>
            <a:r>
              <a:rPr lang="en-US" altLang="ko-KR" dirty="0" err="1"/>
              <a:t>rsk.binaverage</a:t>
            </a:r>
            <a:r>
              <a:rPr lang="en-US" altLang="ko-KR" dirty="0"/>
              <a:t>(direction="down", </a:t>
            </a:r>
            <a:r>
              <a:rPr lang="en-US" altLang="ko-KR" dirty="0" err="1"/>
              <a:t>binSize</a:t>
            </a:r>
            <a:r>
              <a:rPr lang="en-US" altLang="ko-KR" dirty="0"/>
              <a:t>=1.0, boundary=0.5)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samplesinbin</a:t>
            </a:r>
            <a:r>
              <a:rPr lang="en-US" altLang="ko-KR" dirty="0"/>
              <a:t> = </a:t>
            </a:r>
            <a:r>
              <a:rPr lang="en-US" altLang="ko-KR" dirty="0" err="1"/>
              <a:t>rsk.binaverage</a:t>
            </a:r>
            <a:r>
              <a:rPr lang="en-US" altLang="ko-KR" dirty="0"/>
              <a:t>(direction="down", </a:t>
            </a:r>
            <a:r>
              <a:rPr lang="en-US" altLang="ko-KR" dirty="0" err="1"/>
              <a:t>binBy</a:t>
            </a:r>
            <a:r>
              <a:rPr lang="en-US" altLang="ko-KR" dirty="0"/>
              <a:t>="Depth", </a:t>
            </a:r>
            <a:r>
              <a:rPr lang="en-US" altLang="ko-KR" dirty="0" err="1"/>
              <a:t>binSize</a:t>
            </a:r>
            <a:r>
              <a:rPr lang="en-US" altLang="ko-KR" dirty="0"/>
              <a:t>=[10.0, 50.0], boundary=[10.0, 50.0, 200.0])</a:t>
            </a:r>
          </a:p>
          <a:p>
            <a:pPr fontAlgn="base">
              <a:lnSpc>
                <a:spcPts val="2500"/>
              </a:lnSpc>
            </a:pPr>
            <a:r>
              <a:rPr lang="en-US" altLang="ko-KR" dirty="0"/>
              <a:t>&gt;&gt;&gt; </a:t>
            </a:r>
            <a:r>
              <a:rPr lang="en-US" altLang="ko-KR" dirty="0" err="1"/>
              <a:t>samplesinbin</a:t>
            </a:r>
            <a:r>
              <a:rPr lang="en-US" altLang="ko-KR" dirty="0"/>
              <a:t> = </a:t>
            </a:r>
            <a:r>
              <a:rPr lang="en-US" altLang="ko-KR" dirty="0" err="1"/>
              <a:t>rsk.binaverage</a:t>
            </a:r>
            <a:r>
              <a:rPr lang="en-US" altLang="ko-KR" dirty="0"/>
              <a:t>(</a:t>
            </a:r>
            <a:r>
              <a:rPr lang="en-US" altLang="ko-KR" dirty="0" err="1"/>
              <a:t>binBy</a:t>
            </a:r>
            <a:r>
              <a:rPr lang="en-US" altLang="ko-KR" dirty="0"/>
              <a:t>="time", </a:t>
            </a:r>
            <a:r>
              <a:rPr lang="en-US" altLang="ko-KR" dirty="0" err="1"/>
              <a:t>binSize</a:t>
            </a:r>
            <a:r>
              <a:rPr lang="en-US" altLang="ko-KR" dirty="0"/>
              <a:t>=600.0)</a:t>
            </a:r>
          </a:p>
        </p:txBody>
      </p:sp>
    </p:spTree>
    <p:extLst>
      <p:ext uri="{BB962C8B-B14F-4D97-AF65-F5344CB8AC3E}">
        <p14:creationId xmlns:p14="http://schemas.microsoft.com/office/powerpoint/2010/main" val="262022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2138</Words>
  <Application>Microsoft Office PowerPoint</Application>
  <PresentationFormat>사용자 지정</PresentationFormat>
  <Paragraphs>237</Paragraphs>
  <Slides>17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RBR CTD 자료처리  프로그램 사용법</vt:lpstr>
      <vt:lpstr>배경 및 필요성</vt:lpstr>
      <vt:lpstr>각각의 특징 비교</vt:lpstr>
      <vt:lpstr>(py)RSKtools</vt:lpstr>
      <vt:lpstr>(py)RSKtools</vt:lpstr>
      <vt:lpstr>(py)RSKtools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KHOA-2016</cp:lastModifiedBy>
  <cp:revision>27</cp:revision>
  <dcterms:created xsi:type="dcterms:W3CDTF">2025-11-05T04:17:41Z</dcterms:created>
  <dcterms:modified xsi:type="dcterms:W3CDTF">2025-11-20T06:33:21Z</dcterms:modified>
</cp:coreProperties>
</file>